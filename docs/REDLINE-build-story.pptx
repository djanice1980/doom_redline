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DE7E3"/>
                </a:solidFill>
                <a:latin typeface="Arial"/>
              </a:defRPr>
            </a:pPr>
            <a:r>
              <a:rPr sz="1200" b="0" i="0" u="none" strike="noStrike">
                <a:solidFill>
                  <a:srgbClr val="EDE7E3"/>
                </a:solidFill>
                <a:latin typeface="Arial"/>
              </a:rPr>
              <a:t>Lines per module</a:t>
            </a:r>
          </a:p>
        </c:rich>
      </c:tx>
      <c:layout/>
      <c:overlay val="0"/>
    </c:title>
    <c:autoTitleDeleted val="0"/>
    <c:plotArea>
      <c:layout/>
      <c:barChart>
        <c:barDir val="bar"/>
        <c:grouping val="clustered"/>
        <c:varyColors val="0"/>
        <c:ser>
          <c:idx val="0"/>
          <c:order val="0"/>
          <c:tx>
            <c:strRef>
              <c:f>Sheet1!$B$1</c:f>
              <c:strCache>
                <c:ptCount val="1"/>
                <c:pt idx="0">
                  <c:v>Lines</c:v>
                </c:pt>
              </c:strCache>
            </c:strRef>
          </c:tx>
          <c:spPr>
            <a:solidFill>
              <a:srgbClr val="D7261E"/>
            </a:solidFill>
            <a:effectLst/>
          </c:spPr>
          <c:invertIfNegative val="0"/>
          <c:dLbls>
            <c:numFmt formatCode="#,##0" sourceLinked="0"/>
            <c:txPr>
              <a:bodyPr/>
              <a:lstStyle/>
              <a:p>
                <a:pPr>
                  <a:defRPr b="0" i="0" strike="noStrike" sz="900" u="none">
                    <a:solidFill>
                      <a:srgbClr val="EDE7E3"/>
                    </a:solidFill>
                    <a:latin typeface="Arial"/>
                  </a:defRPr>
                </a:pPr>
              </a:p>
            </c:txPr>
            <c:showLegendKey val="0"/>
            <c:showVal val="1"/>
            <c:showCatName val="0"/>
            <c:showSerName val="0"/>
            <c:showPercent val="0"/>
            <c:showBubbleSize val="0"/>
            <c:showLeaderLines val="0"/>
          </c:dLbls>
          <c:cat>
            <c:multiLvlStrRef>
              <c:f>Sheet1!$A$2:$A$9</c:f>
              <c:multiLvlStrCache>
                <c:ptCount val="8"/>
                <c:lvl>
                  <c:pt idx="0">
                    <c:v>game</c:v>
                  </c:pt>
                  <c:pt idx="1">
                    <c:v>audio</c:v>
                  </c:pt>
                  <c:pt idx="2">
                    <c:v>render</c:v>
                  </c:pt>
                  <c:pt idx="3">
                    <c:v>core</c:v>
                  </c:pt>
                  <c:pt idx="4">
                    <c:v>wad</c:v>
                  </c:pt>
                  <c:pt idx="5">
                    <c:v>tests</c:v>
                  </c:pt>
                  <c:pt idx="6">
                    <c:v>tools</c:v>
                  </c:pt>
                  <c:pt idx="7">
                    <c:v>shaders</c:v>
                  </c:pt>
                </c:lvl>
              </c:multiLvlStrCache>
            </c:multiLvlStrRef>
          </c:cat>
          <c:val>
            <c:numRef>
              <c:f>Sheet1!$B$2:$B$9</c:f>
              <c:numCache>
                <c:formatCode>General</c:formatCode>
                <c:ptCount val="8"/>
                <c:pt idx="0">
                  <c:v>4665</c:v>
                </c:pt>
                <c:pt idx="1">
                  <c:v>2023</c:v>
                </c:pt>
                <c:pt idx="2">
                  <c:v>1318</c:v>
                </c:pt>
                <c:pt idx="3">
                  <c:v>1077</c:v>
                </c:pt>
                <c:pt idx="4">
                  <c:v>957</c:v>
                </c:pt>
                <c:pt idx="5">
                  <c:v>1878</c:v>
                </c:pt>
                <c:pt idx="6">
                  <c:v>301</c:v>
                </c:pt>
                <c:pt idx="7">
                  <c:v>196</c:v>
                </c:pt>
              </c:numCache>
            </c:numRef>
          </c:val>
        </c:ser>
        <c:dLbls>
          <c:numFmt formatCode="#,##0" sourceLinked="0"/>
          <c:txPr>
            <a:bodyPr/>
            <a:lstStyle/>
            <a:p>
              <a:pPr>
                <a:defRPr b="0" i="0" strike="noStrike" sz="900" u="none">
                  <a:solidFill>
                    <a:srgbClr val="EDE7E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EDE7E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A273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E6A70"/>
                </a:solidFill>
                <a:latin typeface="Arial"/>
              </a:defRPr>
            </a:pPr>
            <a:endParaRPr lang="en-US"/>
          </a:p>
        </c:txPr>
        <c:crossAx val="2094734554"/>
        <c:crosses val="autoZero"/>
        <c:crossBetween val="between"/>
      </c:valAx>
      <c:spPr>
        <a:solidFill>
          <a:srgbClr val="0B0A0F"/>
        </a:solidFill>
        <a:ln>
          <a:noFill/>
        </a:ln>
        <a:effectLst/>
      </c:spPr>
    </c:plotArea>
    <c:plotVisOnly val="1"/>
    <c:dispBlanksAs val="span"/>
  </c:chart>
  <c:spPr>
    <a:solidFill>
      <a:srgbClr val="0B0A0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this is not a demo of the game, it is a demo of a way of working. Everything you will see was produced from plain-English requests in a single session on 14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Point out how little was specified. The RTX Remix correction is the first example of the AI pushing back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git log and wc. Stress the test count: the AI wrote its own regression net as it went, not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request went through these six steps. The important habit is step 5: the AI does not declare something done until a run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engine is the contract. Point at the test list: each name is a rule the user asked for, expressed as code that fails if the rule regresses.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Delegation works when the interface is fixed in writing before the work starts. The parent integrated the module without reading its internals.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state machine existed 25 minutes after the first commit. The tip-over redesign shows how a small request can ripple through renderer, physics and camera, and still land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a constant in one of two tables in fps_mode.cpp; the AI tuned them from bot runs (the first version had ten imps firing freely, which killed the bot in seconds) and from the user's feedback. Loot: stimpacks, medikits, ammo and weapons pop out of every kill; cacodemons and up always drop a medikit, barons and up usually a weapon. Secret: hold B, F and G for two seconds while stacking to fire the BFG9000 once per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dwell on. The AI cannot play the game, so it built ways to make the game prove itself: the bot completed the loop dozens of times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quickly. The gaps between commits are the conversation: the user played, said what felt wrong, the AI changed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discipline to sell: the correction is encoded as a test with the exact edge cases the user described, then the code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that the AI knows about OPL chips. It is that when the easy route (install a soundfont) needed sudo, it took the harder route that would work immediately, and told the user how to get the easy route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were reported by the user. They were found because the AI's habit is to run the thing and read the exit code, not to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comes from the AI distinguishing what it did, what it verified, and what it could not. Engineers should expect and demand that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Layering kept the AI's changes local: gameplay rules never touched the renderer, and the audio stack was added without changing the game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practices, not the game. These six habits are what made the afternoon productive and what will transfer to real product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invitation: clone it, run it, read the git log. Every design decision is a commit message with a test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jp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A0F"/>
        </a:solidFill>
      </p:bgPr>
    </p:bg>
    <p:spTree>
      <p:nvGrpSpPr>
        <p:cNvPr id="1" name=""/>
        <p:cNvGrpSpPr/>
        <p:nvPr/>
      </p:nvGrpSpPr>
      <p:grpSpPr>
        <a:xfrm>
          <a:off x="0" y="0"/>
          <a:ext cx="0" cy="0"/>
          <a:chOff x="0" y="0"/>
          <a:chExt cx="0" cy="0"/>
        </a:xfrm>
      </p:grpSpPr>
      <p:pic>
        <p:nvPicPr>
          <p:cNvPr id="2" name="Image 0" descr="/tmp/claude-1000/-home-davidj-Claude-Data/52a1801d-3e32-4d0a-8d76-a2b84efc293f/scratchpad/deck/shots/shot_fps.jpg">    </p:cNvPr>
          <p:cNvPicPr>
            <a:picLocks noChangeAspect="1"/>
          </p:cNvPicPr>
          <p:nvPr/>
        </p:nvPicPr>
        <p:blipFill>
          <a:blip r:embed="rId1">
            <a:alphaModFix amt="40000"/>
          </a:blip>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A0F">
              <a:alpha val="70000"/>
            </a:srgbClr>
          </a:solidFill>
          <a:ln/>
        </p:spPr>
      </p:sp>
      <p:sp>
        <p:nvSpPr>
          <p:cNvPr id="4" name="Text 1"/>
          <p:cNvSpPr txBox="1"/>
          <p:nvPr/>
        </p:nvSpPr>
        <p:spPr>
          <a:xfrm>
            <a:off x="640080" y="1234440"/>
            <a:ext cx="7863840" cy="1097280"/>
          </a:xfrm>
          <a:prstGeom prst="rect">
            <a:avLst/>
          </a:prstGeom>
          <a:noFill/>
          <a:ln/>
        </p:spPr>
        <p:txBody>
          <a:bodyPr wrap="square" lIns="0" tIns="0" rIns="0" bIns="0" rtlCol="0" anchor="ctr"/>
          <a:lstStyle/>
          <a:p>
            <a:pPr indent="0" marL="0">
              <a:buNone/>
            </a:pPr>
            <a:r>
              <a:rPr lang="en-US" sz="6600" b="1" dirty="0">
                <a:solidFill>
                  <a:srgbClr val="D7261E"/>
                </a:solidFill>
                <a:latin typeface="Arial" pitchFamily="34" charset="0"/>
                <a:ea typeface="Arial" pitchFamily="34" charset="-122"/>
                <a:cs typeface="Arial" pitchFamily="34" charset="-120"/>
              </a:rPr>
              <a:t>REDLINE</a:t>
            </a:r>
            <a:endParaRPr lang="en-US" sz="6600" dirty="0"/>
          </a:p>
        </p:txBody>
      </p:sp>
      <p:sp>
        <p:nvSpPr>
          <p:cNvPr id="5" name="Text 2"/>
          <p:cNvSpPr txBox="1"/>
          <p:nvPr/>
        </p:nvSpPr>
        <p:spPr>
          <a:xfrm>
            <a:off x="640080" y="2331720"/>
            <a:ext cx="7863840" cy="548640"/>
          </a:xfrm>
          <a:prstGeom prst="rect">
            <a:avLst/>
          </a:prstGeom>
          <a:noFill/>
          <a:ln/>
        </p:spPr>
        <p:txBody>
          <a:bodyPr wrap="square" lIns="0" tIns="0" rIns="0" bIns="0" rtlCol="0" anchor="ctr"/>
          <a:lstStyle/>
          <a:p>
            <a:pPr indent="0" marL="0">
              <a:buNone/>
            </a:pPr>
            <a:r>
              <a:rPr lang="en-US" sz="2400" dirty="0">
                <a:solidFill>
                  <a:srgbClr val="EDE7E3"/>
                </a:solidFill>
                <a:latin typeface="Arial" pitchFamily="34" charset="0"/>
                <a:ea typeface="Arial" pitchFamily="34" charset="-122"/>
                <a:cs typeface="Arial" pitchFamily="34" charset="-120"/>
              </a:rPr>
              <a:t>How an AI built a Doom-flavoured Tetris in one afternoon</a:t>
            </a:r>
            <a:endParaRPr lang="en-US" sz="2400" dirty="0"/>
          </a:p>
        </p:txBody>
      </p:sp>
      <p:sp>
        <p:nvSpPr>
          <p:cNvPr id="6" name="Text 3"/>
          <p:cNvSpPr txBox="1"/>
          <p:nvPr/>
        </p:nvSpPr>
        <p:spPr>
          <a:xfrm>
            <a:off x="640080" y="2926080"/>
            <a:ext cx="7863840" cy="365760"/>
          </a:xfrm>
          <a:prstGeom prst="rect">
            <a:avLst/>
          </a:prstGeom>
          <a:noFill/>
          <a:ln/>
        </p:spPr>
        <p:txBody>
          <a:bodyPr wrap="square" lIns="0" tIns="0" rIns="0" bIns="0" rtlCol="0" anchor="ctr"/>
          <a:lstStyle/>
          <a:p>
            <a:pPr indent="0" marL="0">
              <a:buNone/>
            </a:pPr>
            <a:r>
              <a:rPr lang="en-US" sz="1400" dirty="0">
                <a:solidFill>
                  <a:srgbClr val="F2C14E"/>
                </a:solidFill>
                <a:latin typeface="Calibri" pitchFamily="34" charset="0"/>
                <a:ea typeface="Calibri" pitchFamily="34" charset="-122"/>
                <a:cs typeface="Calibri" pitchFamily="34" charset="-120"/>
              </a:rPr>
              <a:t>A Claude Code case study for the engineering team  ·  September 2026</a:t>
            </a:r>
            <a:endParaRPr lang="en-US" sz="1400" dirty="0"/>
          </a:p>
        </p:txBody>
      </p:sp>
      <p:sp>
        <p:nvSpPr>
          <p:cNvPr id="7" name="Text 4"/>
          <p:cNvSpPr txBox="1"/>
          <p:nvPr/>
        </p:nvSpPr>
        <p:spPr>
          <a:xfrm>
            <a:off x="640080" y="4206240"/>
            <a:ext cx="7863840" cy="320040"/>
          </a:xfrm>
          <a:prstGeom prst="rect">
            <a:avLst/>
          </a:prstGeom>
          <a:noFill/>
          <a:ln/>
        </p:spPr>
        <p:txBody>
          <a:bodyPr wrap="square" lIns="0" tIns="0" rIns="0" bIns="0" rtlCol="0" anchor="ctr"/>
          <a:lstStyle/>
          <a:p>
            <a:pPr indent="0" marL="0">
              <a:buNone/>
            </a:pPr>
            <a:r>
              <a:rPr lang="en-US" sz="1200" dirty="0">
                <a:solidFill>
                  <a:srgbClr val="A39E99"/>
                </a:solidFill>
                <a:latin typeface="Calibri" pitchFamily="34" charset="0"/>
                <a:ea typeface="Calibri" pitchFamily="34" charset="-122"/>
                <a:cs typeface="Calibri" pitchFamily="34" charset="-120"/>
              </a:rPr>
              <a:t>Native Vulkan 1.3  ·  C++20  ·  22 commits  ·  ~12,000 lines  ·  one working day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0</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It started as one paragraph</a:t>
            </a:r>
            <a:endParaRPr lang="en-US" sz="3000" dirty="0"/>
          </a:p>
        </p:txBody>
      </p:sp>
      <p:sp>
        <p:nvSpPr>
          <p:cNvPr id="4" name="Shape 2"/>
          <p:cNvSpPr/>
          <p:nvPr/>
        </p:nvSpPr>
        <p:spPr>
          <a:xfrm>
            <a:off x="457200" y="1097280"/>
            <a:ext cx="4206240" cy="3200400"/>
          </a:xfrm>
          <a:prstGeom prst="roundRect">
            <a:avLst>
              <a:gd name="adj" fmla="val 2857"/>
            </a:avLst>
          </a:prstGeom>
          <a:solidFill>
            <a:srgbClr val="17151C"/>
          </a:solidFill>
          <a:ln w="12700">
            <a:solidFill>
              <a:srgbClr val="221F28"/>
            </a:solidFill>
            <a:prstDash val="solid"/>
          </a:ln>
        </p:spPr>
      </p:sp>
      <p:sp>
        <p:nvSpPr>
          <p:cNvPr id="5" name="Text 3"/>
          <p:cNvSpPr txBox="1"/>
          <p:nvPr/>
        </p:nvSpPr>
        <p:spPr>
          <a:xfrm>
            <a:off x="685800" y="1234440"/>
            <a:ext cx="3749040" cy="2926080"/>
          </a:xfrm>
          <a:prstGeom prst="rect">
            <a:avLst/>
          </a:prstGeom>
          <a:noFill/>
          <a:ln/>
        </p:spPr>
        <p:txBody>
          <a:bodyPr wrap="square" lIns="0" tIns="0" rIns="0" bIns="0" rtlCol="0" anchor="t"/>
          <a:lstStyle/>
          <a:p>
            <a:pPr indent="0" marL="0">
              <a:buNone/>
            </a:pPr>
            <a:r>
              <a:rPr lang="en-US" sz="1300" i="1" dirty="0">
                <a:solidFill>
                  <a:srgbClr val="EDE7E3"/>
                </a:solidFill>
                <a:latin typeface="Calibri" pitchFamily="34" charset="0"/>
                <a:ea typeface="Calibri" pitchFamily="34" charset="-122"/>
                <a:cs typeface="Calibri" pitchFamily="34" charset="-120"/>
              </a:rPr>
              <a:t>“A Tetris-style game that uses Vulkan… every once in a while the game switches to a first-person Doom-style mode when certain blocks refuse to explode. Red blocks go all the way across, the player flies in with a gun, and the blocks turn into enemies. When they are destroyed they take the regular blocks around them with them. We can use assets from the Doom games.”</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200" dirty="0">
                <a:solidFill>
                  <a:srgbClr val="A39E99"/>
                </a:solidFill>
                <a:latin typeface="Calibri" pitchFamily="34" charset="0"/>
                <a:ea typeface="Calibri" pitchFamily="34" charset="-122"/>
                <a:cs typeface="Calibri" pitchFamily="34" charset="-120"/>
              </a:rPr>
              <a:t>That was the whole specification. No architecture, no stack beyond “Vulkan” and “RTX Remix”, no art. The AI had to decide the rest and say so when the request and reality disagreed.</a:t>
            </a:r>
            <a:endParaRPr lang="en-US" sz="1300" dirty="0"/>
          </a:p>
        </p:txBody>
      </p:sp>
      <p:sp>
        <p:nvSpPr>
          <p:cNvPr id="6" name="Shape 4"/>
          <p:cNvSpPr/>
          <p:nvPr/>
        </p:nvSpPr>
        <p:spPr>
          <a:xfrm>
            <a:off x="4937760" y="1051560"/>
            <a:ext cx="3794760" cy="2176272"/>
          </a:xfrm>
          <a:prstGeom prst="roundRect">
            <a:avLst>
              <a:gd name="adj" fmla="val 3361"/>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7" name="Image 0" descr="/tmp/claude-1000/-home-davidj-Claude-Data/52a1801d-3e32-4d0a-8d76-a2b84efc293f/scratchpad/deck/shots/shot_alert.jpg">    </p:cNvPr>
          <p:cNvPicPr>
            <a:picLocks noChangeAspect="1"/>
          </p:cNvPicPr>
          <p:nvPr/>
        </p:nvPicPr>
        <p:blipFill>
          <a:blip r:embed="rId1"/>
          <a:stretch>
            <a:fillRect/>
          </a:stretch>
        </p:blipFill>
        <p:spPr>
          <a:xfrm>
            <a:off x="4983480" y="1097280"/>
            <a:ext cx="3703320" cy="2084832"/>
          </a:xfrm>
          <a:prstGeom prst="rect">
            <a:avLst/>
          </a:prstGeom>
        </p:spPr>
      </p:pic>
      <p:sp>
        <p:nvSpPr>
          <p:cNvPr id="8" name="Text 5"/>
          <p:cNvSpPr txBox="1"/>
          <p:nvPr/>
        </p:nvSpPr>
        <p:spPr>
          <a:xfrm>
            <a:off x="4983480" y="3246120"/>
            <a:ext cx="3703320" cy="274320"/>
          </a:xfrm>
          <a:prstGeom prst="rect">
            <a:avLst/>
          </a:prstGeom>
          <a:noFill/>
          <a:ln/>
        </p:spPr>
        <p:txBody>
          <a:bodyPr wrap="square" lIns="0" tIns="0" rIns="0" bIns="0" rtlCol="0" anchor="ctr"/>
          <a:lstStyle/>
          <a:p>
            <a:pPr indent="0" marL="0">
              <a:buNone/>
            </a:pPr>
            <a:r>
              <a:rPr lang="en-US" sz="1000" i="1" dirty="0">
                <a:solidFill>
                  <a:srgbClr val="A39E99"/>
                </a:solidFill>
                <a:latin typeface="Calibri" pitchFamily="34" charset="0"/>
                <a:ea typeface="Calibri" pitchFamily="34" charset="-122"/>
                <a:cs typeface="Calibri" pitchFamily="34" charset="-120"/>
              </a:rPr>
              <a:t>The red row completes; the board is about to tip over.</a:t>
            </a:r>
            <a:endParaRPr lang="en-US" sz="1000" dirty="0"/>
          </a:p>
        </p:txBody>
      </p:sp>
      <p:sp>
        <p:nvSpPr>
          <p:cNvPr id="9" name="Text 6"/>
          <p:cNvSpPr txBox="1"/>
          <p:nvPr/>
        </p:nvSpPr>
        <p:spPr>
          <a:xfrm>
            <a:off x="4983480" y="3611880"/>
            <a:ext cx="3703320" cy="1005840"/>
          </a:xfrm>
          <a:prstGeom prst="rect">
            <a:avLst/>
          </a:prstGeom>
          <a:noFill/>
          <a:ln/>
        </p:spPr>
        <p:txBody>
          <a:bodyPr wrap="square" lIns="0" tIns="0" rIns="0" bIns="0" rtlCol="0" anchor="t"/>
          <a:lstStyle/>
          <a:p>
            <a:pPr indent="0" marL="0">
              <a:buNone/>
            </a:pPr>
            <a:r>
              <a:rPr lang="en-US" sz="1100" b="1" dirty="0">
                <a:solidFill>
                  <a:srgbClr val="F2C14E"/>
                </a:solidFill>
                <a:latin typeface="Calibri" pitchFamily="34" charset="0"/>
                <a:ea typeface="Calibri" pitchFamily="34" charset="-122"/>
                <a:cs typeface="Calibri" pitchFamily="34" charset="-120"/>
              </a:rPr>
              <a:t>First decision: </a:t>
            </a:r>
            <a:pPr indent="0" marL="0">
              <a:buNone/>
            </a:pPr>
            <a:r>
              <a:rPr lang="en-US" sz="1100" dirty="0">
                <a:solidFill>
                  <a:srgbClr val="EDE7E3"/>
                </a:solidFill>
                <a:latin typeface="Calibri" pitchFamily="34" charset="0"/>
                <a:ea typeface="Calibri" pitchFamily="34" charset="-122"/>
                <a:cs typeface="Calibri" pitchFamily="34" charset="-120"/>
              </a:rPr>
              <a:t>RTX Remix is a Windows D3D9 runtime, not a Linux Vulkan SDK. The AI said so up front, built a native Vulkan renderer with a Remix-shaped material model, and documented the Windows path instead of pretending.</a:t>
            </a:r>
            <a:endParaRPr lang="en-US" sz="1100" dirty="0"/>
          </a:p>
        </p:txBody>
      </p:sp>
      <p:sp>
        <p:nvSpPr>
          <p:cNvPr id="10" name="Text 7"/>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THE OUTPUT</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One session, by the numbers</a:t>
            </a:r>
            <a:endParaRPr lang="en-US" sz="3000" dirty="0"/>
          </a:p>
        </p:txBody>
      </p:sp>
      <p:sp>
        <p:nvSpPr>
          <p:cNvPr id="4" name="Shape 2"/>
          <p:cNvSpPr/>
          <p:nvPr/>
        </p:nvSpPr>
        <p:spPr>
          <a:xfrm>
            <a:off x="457200" y="1234440"/>
            <a:ext cx="1554480" cy="1920240"/>
          </a:xfrm>
          <a:prstGeom prst="roundRect">
            <a:avLst>
              <a:gd name="adj" fmla="val 5882"/>
            </a:avLst>
          </a:prstGeom>
          <a:solidFill>
            <a:srgbClr val="17151C"/>
          </a:solidFill>
          <a:ln w="12700">
            <a:solidFill>
              <a:srgbClr val="221F28"/>
            </a:solidFill>
            <a:prstDash val="solid"/>
          </a:ln>
        </p:spPr>
      </p:sp>
      <p:sp>
        <p:nvSpPr>
          <p:cNvPr id="5" name="Text 3"/>
          <p:cNvSpPr txBox="1"/>
          <p:nvPr/>
        </p:nvSpPr>
        <p:spPr>
          <a:xfrm>
            <a:off x="457200" y="1371600"/>
            <a:ext cx="1554480" cy="868680"/>
          </a:xfrm>
          <a:prstGeom prst="rect">
            <a:avLst/>
          </a:prstGeom>
          <a:noFill/>
          <a:ln/>
        </p:spPr>
        <p:txBody>
          <a:bodyPr wrap="square" lIns="0" tIns="0" rIns="0" bIns="0" rtlCol="0" anchor="ctr"/>
          <a:lstStyle/>
          <a:p>
            <a:pPr algn="ctr" indent="0" marL="0">
              <a:buNone/>
            </a:pPr>
            <a:r>
              <a:rPr lang="en-US" sz="4000" b="1" dirty="0">
                <a:solidFill>
                  <a:srgbClr val="F2C14E"/>
                </a:solidFill>
                <a:latin typeface="Arial" pitchFamily="34" charset="0"/>
                <a:ea typeface="Arial" pitchFamily="34" charset="-122"/>
                <a:cs typeface="Arial" pitchFamily="34" charset="-120"/>
              </a:rPr>
              <a:t>7.5 h</a:t>
            </a:r>
            <a:endParaRPr lang="en-US" sz="4000" dirty="0"/>
          </a:p>
        </p:txBody>
      </p:sp>
      <p:sp>
        <p:nvSpPr>
          <p:cNvPr id="6" name="Text 4"/>
          <p:cNvSpPr txBox="1"/>
          <p:nvPr/>
        </p:nvSpPr>
        <p:spPr>
          <a:xfrm>
            <a:off x="548640" y="2286000"/>
            <a:ext cx="1371600" cy="731520"/>
          </a:xfrm>
          <a:prstGeom prst="rect">
            <a:avLst/>
          </a:prstGeom>
          <a:noFill/>
          <a:ln/>
        </p:spPr>
        <p:txBody>
          <a:bodyPr wrap="square" lIns="0" tIns="0" rIns="0" bIns="0" rtlCol="0" anchor="t"/>
          <a:lstStyle/>
          <a:p>
            <a:pPr algn="ctr" indent="0" marL="0">
              <a:buNone/>
            </a:pPr>
            <a:r>
              <a:rPr lang="en-US" sz="1100" dirty="0">
                <a:solidFill>
                  <a:srgbClr val="A39E99"/>
                </a:solidFill>
                <a:latin typeface="Calibri" pitchFamily="34" charset="0"/>
                <a:ea typeface="Calibri" pitchFamily="34" charset="-122"/>
                <a:cs typeface="Calibri" pitchFamily="34" charset="-120"/>
              </a:rPr>
              <a:t>wall clock, first</a:t>
            </a:r>
            <a:endParaRPr lang="en-US" sz="1100" dirty="0"/>
          </a:p>
          <a:p>
            <a:pPr algn="ctr" indent="0" marL="0">
              <a:buNone/>
            </a:pPr>
            <a:r>
              <a:rPr lang="en-US" sz="1100" dirty="0">
                <a:solidFill>
                  <a:srgbClr val="A39E99"/>
                </a:solidFill>
                <a:latin typeface="Calibri" pitchFamily="34" charset="0"/>
                <a:ea typeface="Calibri" pitchFamily="34" charset="-122"/>
                <a:cs typeface="Calibri" pitchFamily="34" charset="-120"/>
              </a:rPr>
              <a:t>commit to last</a:t>
            </a:r>
            <a:endParaRPr lang="en-US" sz="1100" dirty="0"/>
          </a:p>
        </p:txBody>
      </p:sp>
      <p:sp>
        <p:nvSpPr>
          <p:cNvPr id="7" name="Shape 5"/>
          <p:cNvSpPr/>
          <p:nvPr/>
        </p:nvSpPr>
        <p:spPr>
          <a:xfrm>
            <a:off x="2139696" y="1234440"/>
            <a:ext cx="1554480" cy="1920240"/>
          </a:xfrm>
          <a:prstGeom prst="roundRect">
            <a:avLst>
              <a:gd name="adj" fmla="val 5882"/>
            </a:avLst>
          </a:prstGeom>
          <a:solidFill>
            <a:srgbClr val="17151C"/>
          </a:solidFill>
          <a:ln w="12700">
            <a:solidFill>
              <a:srgbClr val="221F28"/>
            </a:solidFill>
            <a:prstDash val="solid"/>
          </a:ln>
        </p:spPr>
      </p:sp>
      <p:sp>
        <p:nvSpPr>
          <p:cNvPr id="8" name="Text 6"/>
          <p:cNvSpPr txBox="1"/>
          <p:nvPr/>
        </p:nvSpPr>
        <p:spPr>
          <a:xfrm>
            <a:off x="2139696" y="1371600"/>
            <a:ext cx="1554480" cy="868680"/>
          </a:xfrm>
          <a:prstGeom prst="rect">
            <a:avLst/>
          </a:prstGeom>
          <a:noFill/>
          <a:ln/>
        </p:spPr>
        <p:txBody>
          <a:bodyPr wrap="square" lIns="0" tIns="0" rIns="0" bIns="0" rtlCol="0" anchor="ctr"/>
          <a:lstStyle/>
          <a:p>
            <a:pPr algn="ctr" indent="0" marL="0">
              <a:buNone/>
            </a:pPr>
            <a:r>
              <a:rPr lang="en-US" sz="4000" b="1" dirty="0">
                <a:solidFill>
                  <a:srgbClr val="F2C14E"/>
                </a:solidFill>
                <a:latin typeface="Arial" pitchFamily="34" charset="0"/>
                <a:ea typeface="Arial" pitchFamily="34" charset="-122"/>
                <a:cs typeface="Arial" pitchFamily="34" charset="-120"/>
              </a:rPr>
              <a:t>22</a:t>
            </a:r>
            <a:endParaRPr lang="en-US" sz="4000" dirty="0"/>
          </a:p>
        </p:txBody>
      </p:sp>
      <p:sp>
        <p:nvSpPr>
          <p:cNvPr id="9" name="Text 7"/>
          <p:cNvSpPr txBox="1"/>
          <p:nvPr/>
        </p:nvSpPr>
        <p:spPr>
          <a:xfrm>
            <a:off x="2231136" y="2286000"/>
            <a:ext cx="1371600" cy="731520"/>
          </a:xfrm>
          <a:prstGeom prst="rect">
            <a:avLst/>
          </a:prstGeom>
          <a:noFill/>
          <a:ln/>
        </p:spPr>
        <p:txBody>
          <a:bodyPr wrap="square" lIns="0" tIns="0" rIns="0" bIns="0" rtlCol="0" anchor="t"/>
          <a:lstStyle/>
          <a:p>
            <a:pPr algn="ctr" indent="0" marL="0">
              <a:buNone/>
            </a:pPr>
            <a:r>
              <a:rPr lang="en-US" sz="1100" dirty="0">
                <a:solidFill>
                  <a:srgbClr val="A39E99"/>
                </a:solidFill>
                <a:latin typeface="Calibri" pitchFamily="34" charset="0"/>
                <a:ea typeface="Calibri" pitchFamily="34" charset="-122"/>
                <a:cs typeface="Calibri" pitchFamily="34" charset="-120"/>
              </a:rPr>
              <a:t>commits, each a</a:t>
            </a:r>
            <a:endParaRPr lang="en-US" sz="1100" dirty="0"/>
          </a:p>
          <a:p>
            <a:pPr algn="ctr" indent="0" marL="0">
              <a:buNone/>
            </a:pPr>
            <a:r>
              <a:rPr lang="en-US" sz="1100" dirty="0">
                <a:solidFill>
                  <a:srgbClr val="A39E99"/>
                </a:solidFill>
                <a:latin typeface="Calibri" pitchFamily="34" charset="0"/>
                <a:ea typeface="Calibri" pitchFamily="34" charset="-122"/>
                <a:cs typeface="Calibri" pitchFamily="34" charset="-120"/>
              </a:rPr>
              <a:t>playable increment</a:t>
            </a:r>
            <a:endParaRPr lang="en-US" sz="1100" dirty="0"/>
          </a:p>
        </p:txBody>
      </p:sp>
      <p:sp>
        <p:nvSpPr>
          <p:cNvPr id="10" name="Shape 8"/>
          <p:cNvSpPr/>
          <p:nvPr/>
        </p:nvSpPr>
        <p:spPr>
          <a:xfrm>
            <a:off x="3822192" y="1234440"/>
            <a:ext cx="1554480" cy="1920240"/>
          </a:xfrm>
          <a:prstGeom prst="roundRect">
            <a:avLst>
              <a:gd name="adj" fmla="val 5882"/>
            </a:avLst>
          </a:prstGeom>
          <a:solidFill>
            <a:srgbClr val="17151C"/>
          </a:solidFill>
          <a:ln w="12700">
            <a:solidFill>
              <a:srgbClr val="221F28"/>
            </a:solidFill>
            <a:prstDash val="solid"/>
          </a:ln>
        </p:spPr>
      </p:sp>
      <p:sp>
        <p:nvSpPr>
          <p:cNvPr id="11" name="Text 9"/>
          <p:cNvSpPr txBox="1"/>
          <p:nvPr/>
        </p:nvSpPr>
        <p:spPr>
          <a:xfrm>
            <a:off x="3822192" y="1371600"/>
            <a:ext cx="1554480" cy="868680"/>
          </a:xfrm>
          <a:prstGeom prst="rect">
            <a:avLst/>
          </a:prstGeom>
          <a:noFill/>
          <a:ln/>
        </p:spPr>
        <p:txBody>
          <a:bodyPr wrap="square" lIns="0" tIns="0" rIns="0" bIns="0" rtlCol="0" anchor="ctr"/>
          <a:lstStyle/>
          <a:p>
            <a:pPr algn="ctr" indent="0" marL="0">
              <a:buNone/>
            </a:pPr>
            <a:r>
              <a:rPr lang="en-US" sz="4000" b="1" dirty="0">
                <a:solidFill>
                  <a:srgbClr val="F2C14E"/>
                </a:solidFill>
                <a:latin typeface="Arial" pitchFamily="34" charset="0"/>
                <a:ea typeface="Arial" pitchFamily="34" charset="-122"/>
                <a:cs typeface="Arial" pitchFamily="34" charset="-120"/>
              </a:rPr>
              <a:t>12.4k</a:t>
            </a:r>
            <a:endParaRPr lang="en-US" sz="4000" dirty="0"/>
          </a:p>
        </p:txBody>
      </p:sp>
      <p:sp>
        <p:nvSpPr>
          <p:cNvPr id="12" name="Text 10"/>
          <p:cNvSpPr txBox="1"/>
          <p:nvPr/>
        </p:nvSpPr>
        <p:spPr>
          <a:xfrm>
            <a:off x="3913632" y="2286000"/>
            <a:ext cx="1371600" cy="731520"/>
          </a:xfrm>
          <a:prstGeom prst="rect">
            <a:avLst/>
          </a:prstGeom>
          <a:noFill/>
          <a:ln/>
        </p:spPr>
        <p:txBody>
          <a:bodyPr wrap="square" lIns="0" tIns="0" rIns="0" bIns="0" rtlCol="0" anchor="t"/>
          <a:lstStyle/>
          <a:p>
            <a:pPr algn="ctr" indent="0" marL="0">
              <a:buNone/>
            </a:pPr>
            <a:r>
              <a:rPr lang="en-US" sz="1100" dirty="0">
                <a:solidFill>
                  <a:srgbClr val="A39E99"/>
                </a:solidFill>
                <a:latin typeface="Calibri" pitchFamily="34" charset="0"/>
                <a:ea typeface="Calibri" pitchFamily="34" charset="-122"/>
                <a:cs typeface="Calibri" pitchFamily="34" charset="-120"/>
              </a:rPr>
              <a:t>lines of C++20,</a:t>
            </a:r>
            <a:endParaRPr lang="en-US" sz="1100" dirty="0"/>
          </a:p>
          <a:p>
            <a:pPr algn="ctr" indent="0" marL="0">
              <a:buNone/>
            </a:pPr>
            <a:r>
              <a:rPr lang="en-US" sz="1100" dirty="0">
                <a:solidFill>
                  <a:srgbClr val="A39E99"/>
                </a:solidFill>
                <a:latin typeface="Calibri" pitchFamily="34" charset="0"/>
                <a:ea typeface="Calibri" pitchFamily="34" charset="-122"/>
                <a:cs typeface="Calibri" pitchFamily="34" charset="-120"/>
              </a:rPr>
              <a:t>GLSL and tests</a:t>
            </a:r>
            <a:endParaRPr lang="en-US" sz="1100" dirty="0"/>
          </a:p>
        </p:txBody>
      </p:sp>
      <p:sp>
        <p:nvSpPr>
          <p:cNvPr id="13" name="Shape 11"/>
          <p:cNvSpPr/>
          <p:nvPr/>
        </p:nvSpPr>
        <p:spPr>
          <a:xfrm>
            <a:off x="5504688" y="1234440"/>
            <a:ext cx="1554480" cy="1920240"/>
          </a:xfrm>
          <a:prstGeom prst="roundRect">
            <a:avLst>
              <a:gd name="adj" fmla="val 5882"/>
            </a:avLst>
          </a:prstGeom>
          <a:solidFill>
            <a:srgbClr val="17151C"/>
          </a:solidFill>
          <a:ln w="12700">
            <a:solidFill>
              <a:srgbClr val="221F28"/>
            </a:solidFill>
            <a:prstDash val="solid"/>
          </a:ln>
        </p:spPr>
      </p:sp>
      <p:sp>
        <p:nvSpPr>
          <p:cNvPr id="14" name="Text 12"/>
          <p:cNvSpPr txBox="1"/>
          <p:nvPr/>
        </p:nvSpPr>
        <p:spPr>
          <a:xfrm>
            <a:off x="5504688" y="1371600"/>
            <a:ext cx="1554480" cy="868680"/>
          </a:xfrm>
          <a:prstGeom prst="rect">
            <a:avLst/>
          </a:prstGeom>
          <a:noFill/>
          <a:ln/>
        </p:spPr>
        <p:txBody>
          <a:bodyPr wrap="square" lIns="0" tIns="0" rIns="0" bIns="0" rtlCol="0" anchor="ctr"/>
          <a:lstStyle/>
          <a:p>
            <a:pPr algn="ctr" indent="0" marL="0">
              <a:buNone/>
            </a:pPr>
            <a:r>
              <a:rPr lang="en-US" sz="4000" b="1" dirty="0">
                <a:solidFill>
                  <a:srgbClr val="F2C14E"/>
                </a:solidFill>
                <a:latin typeface="Arial" pitchFamily="34" charset="0"/>
                <a:ea typeface="Arial" pitchFamily="34" charset="-122"/>
                <a:cs typeface="Arial" pitchFamily="34" charset="-120"/>
              </a:rPr>
              <a:t>304</a:t>
            </a:r>
            <a:endParaRPr lang="en-US" sz="4000" dirty="0"/>
          </a:p>
        </p:txBody>
      </p:sp>
      <p:sp>
        <p:nvSpPr>
          <p:cNvPr id="15" name="Text 13"/>
          <p:cNvSpPr txBox="1"/>
          <p:nvPr/>
        </p:nvSpPr>
        <p:spPr>
          <a:xfrm>
            <a:off x="5596128" y="2286000"/>
            <a:ext cx="1371600" cy="731520"/>
          </a:xfrm>
          <a:prstGeom prst="rect">
            <a:avLst/>
          </a:prstGeom>
          <a:noFill/>
          <a:ln/>
        </p:spPr>
        <p:txBody>
          <a:bodyPr wrap="square" lIns="0" tIns="0" rIns="0" bIns="0" rtlCol="0" anchor="t"/>
          <a:lstStyle/>
          <a:p>
            <a:pPr algn="ctr" indent="0" marL="0">
              <a:buNone/>
            </a:pPr>
            <a:r>
              <a:rPr lang="en-US" sz="1100" dirty="0">
                <a:solidFill>
                  <a:srgbClr val="A39E99"/>
                </a:solidFill>
                <a:latin typeface="Calibri" pitchFamily="34" charset="0"/>
                <a:ea typeface="Calibri" pitchFamily="34" charset="-122"/>
                <a:cs typeface="Calibri" pitchFamily="34" charset="-120"/>
              </a:rPr>
              <a:t>automated checks</a:t>
            </a:r>
            <a:endParaRPr lang="en-US" sz="1100" dirty="0"/>
          </a:p>
          <a:p>
            <a:pPr algn="ctr" indent="0" marL="0">
              <a:buNone/>
            </a:pPr>
            <a:r>
              <a:rPr lang="en-US" sz="1100" dirty="0">
                <a:solidFill>
                  <a:srgbClr val="A39E99"/>
                </a:solidFill>
                <a:latin typeface="Calibri" pitchFamily="34" charset="0"/>
                <a:ea typeface="Calibri" pitchFamily="34" charset="-122"/>
                <a:cs typeface="Calibri" pitchFamily="34" charset="-120"/>
              </a:rPr>
              <a:t>in four test suites</a:t>
            </a:r>
            <a:endParaRPr lang="en-US" sz="1100" dirty="0"/>
          </a:p>
        </p:txBody>
      </p:sp>
      <p:sp>
        <p:nvSpPr>
          <p:cNvPr id="16" name="Shape 14"/>
          <p:cNvSpPr/>
          <p:nvPr/>
        </p:nvSpPr>
        <p:spPr>
          <a:xfrm>
            <a:off x="7187184" y="1234440"/>
            <a:ext cx="1554480" cy="1920240"/>
          </a:xfrm>
          <a:prstGeom prst="roundRect">
            <a:avLst>
              <a:gd name="adj" fmla="val 5882"/>
            </a:avLst>
          </a:prstGeom>
          <a:solidFill>
            <a:srgbClr val="17151C"/>
          </a:solidFill>
          <a:ln w="12700">
            <a:solidFill>
              <a:srgbClr val="221F28"/>
            </a:solidFill>
            <a:prstDash val="solid"/>
          </a:ln>
        </p:spPr>
      </p:sp>
      <p:sp>
        <p:nvSpPr>
          <p:cNvPr id="17" name="Text 15"/>
          <p:cNvSpPr txBox="1"/>
          <p:nvPr/>
        </p:nvSpPr>
        <p:spPr>
          <a:xfrm>
            <a:off x="7187184" y="1371600"/>
            <a:ext cx="1554480" cy="868680"/>
          </a:xfrm>
          <a:prstGeom prst="rect">
            <a:avLst/>
          </a:prstGeom>
          <a:noFill/>
          <a:ln/>
        </p:spPr>
        <p:txBody>
          <a:bodyPr wrap="square" lIns="0" tIns="0" rIns="0" bIns="0" rtlCol="0" anchor="ctr"/>
          <a:lstStyle/>
          <a:p>
            <a:pPr algn="ctr" indent="0" marL="0">
              <a:buNone/>
            </a:pPr>
            <a:r>
              <a:rPr lang="en-US" sz="4000" b="1" dirty="0">
                <a:solidFill>
                  <a:srgbClr val="F2C14E"/>
                </a:solidFill>
                <a:latin typeface="Arial" pitchFamily="34" charset="0"/>
                <a:ea typeface="Arial" pitchFamily="34" charset="-122"/>
                <a:cs typeface="Arial" pitchFamily="34" charset="-120"/>
              </a:rPr>
              <a:t>2</a:t>
            </a:r>
            <a:endParaRPr lang="en-US" sz="4000" dirty="0"/>
          </a:p>
        </p:txBody>
      </p:sp>
      <p:sp>
        <p:nvSpPr>
          <p:cNvPr id="18" name="Text 16"/>
          <p:cNvSpPr txBox="1"/>
          <p:nvPr/>
        </p:nvSpPr>
        <p:spPr>
          <a:xfrm>
            <a:off x="7278624" y="2286000"/>
            <a:ext cx="1371600" cy="731520"/>
          </a:xfrm>
          <a:prstGeom prst="rect">
            <a:avLst/>
          </a:prstGeom>
          <a:noFill/>
          <a:ln/>
        </p:spPr>
        <p:txBody>
          <a:bodyPr wrap="square" lIns="0" tIns="0" rIns="0" bIns="0" rtlCol="0" anchor="t"/>
          <a:lstStyle/>
          <a:p>
            <a:pPr algn="ctr" indent="0" marL="0">
              <a:buNone/>
            </a:pPr>
            <a:r>
              <a:rPr lang="en-US" sz="1100" dirty="0">
                <a:solidFill>
                  <a:srgbClr val="A39E99"/>
                </a:solidFill>
                <a:latin typeface="Calibri" pitchFamily="34" charset="0"/>
                <a:ea typeface="Calibri" pitchFamily="34" charset="-122"/>
                <a:cs typeface="Calibri" pitchFamily="34" charset="-120"/>
              </a:rPr>
              <a:t>subagents delegated</a:t>
            </a:r>
            <a:endParaRPr lang="en-US" sz="1100" dirty="0"/>
          </a:p>
          <a:p>
            <a:pPr algn="ctr" indent="0" marL="0">
              <a:buNone/>
            </a:pPr>
            <a:r>
              <a:rPr lang="en-US" sz="1100" dirty="0">
                <a:solidFill>
                  <a:srgbClr val="A39E99"/>
                </a:solidFill>
                <a:latin typeface="Calibri" pitchFamily="34" charset="0"/>
                <a:ea typeface="Calibri" pitchFamily="34" charset="-122"/>
                <a:cs typeface="Calibri" pitchFamily="34" charset="-120"/>
              </a:rPr>
              <a:t>self-contained modules</a:t>
            </a:r>
            <a:endParaRPr lang="en-US" sz="1100" dirty="0"/>
          </a:p>
        </p:txBody>
      </p:sp>
      <p:sp>
        <p:nvSpPr>
          <p:cNvPr id="19" name="Text 17"/>
          <p:cNvSpPr txBox="1"/>
          <p:nvPr/>
        </p:nvSpPr>
        <p:spPr>
          <a:xfrm>
            <a:off x="457200" y="3429000"/>
            <a:ext cx="8229600" cy="1097280"/>
          </a:xfrm>
          <a:prstGeom prst="rect">
            <a:avLst/>
          </a:prstGeom>
          <a:noFill/>
          <a:ln/>
        </p:spPr>
        <p:txBody>
          <a:bodyPr wrap="square" lIns="0" tIns="0" rIns="0" bIns="0" rtlCol="0" anchor="t"/>
          <a:lstStyle/>
          <a:p>
            <a:pPr indent="0" marL="0">
              <a:buNone/>
            </a:pPr>
            <a:r>
              <a:rPr lang="en-US" sz="1300" b="1" dirty="0">
                <a:solidFill>
                  <a:srgbClr val="F2C14E"/>
                </a:solidFill>
                <a:latin typeface="Calibri" pitchFamily="34" charset="0"/>
                <a:ea typeface="Calibri" pitchFamily="34" charset="-122"/>
                <a:cs typeface="Calibri" pitchFamily="34" charset="-120"/>
              </a:rPr>
              <a:t>What shipped: </a:t>
            </a:r>
            <a:pPr indent="0" marL="0">
              <a:buNone/>
            </a:pPr>
            <a:r>
              <a:rPr lang="en-US" sz="1300" dirty="0">
                <a:solidFill>
                  <a:srgbClr val="EDE7E3"/>
                </a:solidFill>
                <a:latin typeface="Calibri" pitchFamily="34" charset="0"/>
                <a:ea typeface="Calibri" pitchFamily="34" charset="-122"/>
                <a:cs typeface="Calibri" pitchFamily="34" charset="-120"/>
              </a:rPr>
              <a:t>a Vulkan renderer, a Doom WAD reader, a rules engine, a first-person combat sim with seven monster classes and four weapons, an OPL3 synthesizer for Doom's music, streamed Ogg soundtracks, gamepad support, player profiles, trophies, high scores, and display options. All from conversation.</a:t>
            </a:r>
            <a:endParaRPr lang="en-US" sz="1300" dirty="0"/>
          </a:p>
        </p:txBody>
      </p:sp>
      <p:sp>
        <p:nvSpPr>
          <p:cNvPr id="20" name="Text 18"/>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THE METHOD</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The loop that repeated all afternoon</a:t>
            </a:r>
            <a:endParaRPr lang="en-US" sz="3000" dirty="0"/>
          </a:p>
        </p:txBody>
      </p:sp>
      <p:sp>
        <p:nvSpPr>
          <p:cNvPr id="4" name="Shape 2"/>
          <p:cNvSpPr/>
          <p:nvPr/>
        </p:nvSpPr>
        <p:spPr>
          <a:xfrm>
            <a:off x="457200" y="1188720"/>
            <a:ext cx="2606040" cy="1463040"/>
          </a:xfrm>
          <a:prstGeom prst="roundRect">
            <a:avLst>
              <a:gd name="adj" fmla="val 6250"/>
            </a:avLst>
          </a:prstGeom>
          <a:solidFill>
            <a:srgbClr val="17151C"/>
          </a:solidFill>
          <a:ln w="12700">
            <a:solidFill>
              <a:srgbClr val="221F28"/>
            </a:solidFill>
            <a:prstDash val="solid"/>
          </a:ln>
        </p:spPr>
      </p:sp>
      <p:sp>
        <p:nvSpPr>
          <p:cNvPr id="5" name="Shape 3"/>
          <p:cNvSpPr/>
          <p:nvPr/>
        </p:nvSpPr>
        <p:spPr>
          <a:xfrm>
            <a:off x="640080" y="1371600"/>
            <a:ext cx="502920" cy="502920"/>
          </a:xfrm>
          <a:prstGeom prst="ellipse">
            <a:avLst/>
          </a:prstGeom>
          <a:solidFill>
            <a:srgbClr val="8C1711"/>
          </a:solidFill>
          <a:ln/>
        </p:spPr>
      </p:sp>
      <p:pic>
        <p:nvPicPr>
          <p:cNvPr id="6" name="Image 0" descr="preencoded.png">    </p:cNvPr>
          <p:cNvPicPr>
            <a:picLocks noChangeAspect="1"/>
          </p:cNvPicPr>
          <p:nvPr/>
        </p:nvPicPr>
        <p:blipFill>
          <a:blip r:embed="rId1"/>
          <a:stretch>
            <a:fillRect/>
          </a:stretch>
        </p:blipFill>
        <p:spPr>
          <a:xfrm>
            <a:off x="749808" y="1481328"/>
            <a:ext cx="283464" cy="283464"/>
          </a:xfrm>
          <a:prstGeom prst="rect">
            <a:avLst/>
          </a:prstGeom>
        </p:spPr>
      </p:pic>
      <p:sp>
        <p:nvSpPr>
          <p:cNvPr id="7" name="Text 4"/>
          <p:cNvSpPr txBox="1"/>
          <p:nvPr/>
        </p:nvSpPr>
        <p:spPr>
          <a:xfrm>
            <a:off x="2560320" y="132588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1280160" y="137160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Specify</a:t>
            </a:r>
            <a:endParaRPr lang="en-US" sz="1400" dirty="0"/>
          </a:p>
        </p:txBody>
      </p:sp>
      <p:sp>
        <p:nvSpPr>
          <p:cNvPr id="9" name="Text 6"/>
          <p:cNvSpPr txBox="1"/>
          <p:nvPr/>
        </p:nvSpPr>
        <p:spPr>
          <a:xfrm>
            <a:off x="640080" y="196596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Turn the request into concrete rules and interfaces</a:t>
            </a:r>
            <a:endParaRPr lang="en-US" sz="1100" dirty="0"/>
          </a:p>
        </p:txBody>
      </p:sp>
      <p:sp>
        <p:nvSpPr>
          <p:cNvPr id="10" name="Shape 7"/>
          <p:cNvSpPr/>
          <p:nvPr/>
        </p:nvSpPr>
        <p:spPr>
          <a:xfrm>
            <a:off x="3246120" y="1188720"/>
            <a:ext cx="2606040" cy="1463040"/>
          </a:xfrm>
          <a:prstGeom prst="roundRect">
            <a:avLst>
              <a:gd name="adj" fmla="val 6250"/>
            </a:avLst>
          </a:prstGeom>
          <a:solidFill>
            <a:srgbClr val="17151C"/>
          </a:solidFill>
          <a:ln w="12700">
            <a:solidFill>
              <a:srgbClr val="221F28"/>
            </a:solidFill>
            <a:prstDash val="solid"/>
          </a:ln>
        </p:spPr>
      </p:sp>
      <p:sp>
        <p:nvSpPr>
          <p:cNvPr id="11" name="Shape 8"/>
          <p:cNvSpPr/>
          <p:nvPr/>
        </p:nvSpPr>
        <p:spPr>
          <a:xfrm>
            <a:off x="3429000" y="1371600"/>
            <a:ext cx="502920" cy="502920"/>
          </a:xfrm>
          <a:prstGeom prst="ellipse">
            <a:avLst/>
          </a:prstGeom>
          <a:solidFill>
            <a:srgbClr val="8C1711"/>
          </a:solidFill>
          <a:ln/>
        </p:spPr>
      </p:sp>
      <p:pic>
        <p:nvPicPr>
          <p:cNvPr id="12" name="Image 1" descr="preencoded.png">    </p:cNvPr>
          <p:cNvPicPr>
            <a:picLocks noChangeAspect="1"/>
          </p:cNvPicPr>
          <p:nvPr/>
        </p:nvPicPr>
        <p:blipFill>
          <a:blip r:embed="rId2"/>
          <a:stretch>
            <a:fillRect/>
          </a:stretch>
        </p:blipFill>
        <p:spPr>
          <a:xfrm>
            <a:off x="3538728" y="1481328"/>
            <a:ext cx="283464" cy="283464"/>
          </a:xfrm>
          <a:prstGeom prst="rect">
            <a:avLst/>
          </a:prstGeom>
        </p:spPr>
      </p:pic>
      <p:sp>
        <p:nvSpPr>
          <p:cNvPr id="13" name="Text 9"/>
          <p:cNvSpPr txBox="1"/>
          <p:nvPr/>
        </p:nvSpPr>
        <p:spPr>
          <a:xfrm>
            <a:off x="5349240" y="132588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2</a:t>
            </a:r>
            <a:endParaRPr lang="en-US" sz="1800" dirty="0"/>
          </a:p>
        </p:txBody>
      </p:sp>
      <p:sp>
        <p:nvSpPr>
          <p:cNvPr id="14" name="Text 10"/>
          <p:cNvSpPr txBox="1"/>
          <p:nvPr/>
        </p:nvSpPr>
        <p:spPr>
          <a:xfrm>
            <a:off x="4069080" y="137160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Skeleton + tests</a:t>
            </a:r>
            <a:endParaRPr lang="en-US" sz="1400" dirty="0"/>
          </a:p>
        </p:txBody>
      </p:sp>
      <p:sp>
        <p:nvSpPr>
          <p:cNvPr id="15" name="Text 11"/>
          <p:cNvSpPr txBox="1"/>
          <p:nvPr/>
        </p:nvSpPr>
        <p:spPr>
          <a:xfrm>
            <a:off x="3429000" y="196596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Pure logic first, unit tests before pixels</a:t>
            </a:r>
            <a:endParaRPr lang="en-US" sz="1100" dirty="0"/>
          </a:p>
        </p:txBody>
      </p:sp>
      <p:sp>
        <p:nvSpPr>
          <p:cNvPr id="16" name="Shape 12"/>
          <p:cNvSpPr/>
          <p:nvPr/>
        </p:nvSpPr>
        <p:spPr>
          <a:xfrm>
            <a:off x="6035040" y="1188720"/>
            <a:ext cx="2606040" cy="1463040"/>
          </a:xfrm>
          <a:prstGeom prst="roundRect">
            <a:avLst>
              <a:gd name="adj" fmla="val 6250"/>
            </a:avLst>
          </a:prstGeom>
          <a:solidFill>
            <a:srgbClr val="17151C"/>
          </a:solidFill>
          <a:ln w="12700">
            <a:solidFill>
              <a:srgbClr val="221F28"/>
            </a:solidFill>
            <a:prstDash val="solid"/>
          </a:ln>
        </p:spPr>
      </p:sp>
      <p:sp>
        <p:nvSpPr>
          <p:cNvPr id="17" name="Shape 13"/>
          <p:cNvSpPr/>
          <p:nvPr/>
        </p:nvSpPr>
        <p:spPr>
          <a:xfrm>
            <a:off x="6217920" y="1371600"/>
            <a:ext cx="502920" cy="502920"/>
          </a:xfrm>
          <a:prstGeom prst="ellipse">
            <a:avLst/>
          </a:prstGeom>
          <a:solidFill>
            <a:srgbClr val="8C1711"/>
          </a:solidFill>
          <a:ln/>
        </p:spPr>
      </p:sp>
      <p:pic>
        <p:nvPicPr>
          <p:cNvPr id="18" name="Image 2" descr="preencoded.png">    </p:cNvPr>
          <p:cNvPicPr>
            <a:picLocks noChangeAspect="1"/>
          </p:cNvPicPr>
          <p:nvPr/>
        </p:nvPicPr>
        <p:blipFill>
          <a:blip r:embed="rId3"/>
          <a:stretch>
            <a:fillRect/>
          </a:stretch>
        </p:blipFill>
        <p:spPr>
          <a:xfrm>
            <a:off x="6327648" y="1481328"/>
            <a:ext cx="283464" cy="283464"/>
          </a:xfrm>
          <a:prstGeom prst="rect">
            <a:avLst/>
          </a:prstGeom>
        </p:spPr>
      </p:pic>
      <p:sp>
        <p:nvSpPr>
          <p:cNvPr id="19" name="Text 14"/>
          <p:cNvSpPr txBox="1"/>
          <p:nvPr/>
        </p:nvSpPr>
        <p:spPr>
          <a:xfrm>
            <a:off x="8138160" y="132588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3</a:t>
            </a:r>
            <a:endParaRPr lang="en-US" sz="1800" dirty="0"/>
          </a:p>
        </p:txBody>
      </p:sp>
      <p:sp>
        <p:nvSpPr>
          <p:cNvPr id="20" name="Text 15"/>
          <p:cNvSpPr txBox="1"/>
          <p:nvPr/>
        </p:nvSpPr>
        <p:spPr>
          <a:xfrm>
            <a:off x="6858000" y="137160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Delegate</a:t>
            </a:r>
            <a:endParaRPr lang="en-US" sz="1400" dirty="0"/>
          </a:p>
        </p:txBody>
      </p:sp>
      <p:sp>
        <p:nvSpPr>
          <p:cNvPr id="21" name="Text 16"/>
          <p:cNvSpPr txBox="1"/>
          <p:nvPr/>
        </p:nvSpPr>
        <p:spPr>
          <a:xfrm>
            <a:off x="6217920" y="196596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Self-contained modules to subagents with a written contract</a:t>
            </a:r>
            <a:endParaRPr lang="en-US" sz="1100" dirty="0"/>
          </a:p>
        </p:txBody>
      </p:sp>
      <p:sp>
        <p:nvSpPr>
          <p:cNvPr id="22" name="Shape 17"/>
          <p:cNvSpPr/>
          <p:nvPr/>
        </p:nvSpPr>
        <p:spPr>
          <a:xfrm>
            <a:off x="457200" y="2880360"/>
            <a:ext cx="2606040" cy="1463040"/>
          </a:xfrm>
          <a:prstGeom prst="roundRect">
            <a:avLst>
              <a:gd name="adj" fmla="val 6250"/>
            </a:avLst>
          </a:prstGeom>
          <a:solidFill>
            <a:srgbClr val="17151C"/>
          </a:solidFill>
          <a:ln w="12700">
            <a:solidFill>
              <a:srgbClr val="221F28"/>
            </a:solidFill>
            <a:prstDash val="solid"/>
          </a:ln>
        </p:spPr>
      </p:sp>
      <p:sp>
        <p:nvSpPr>
          <p:cNvPr id="23" name="Shape 18"/>
          <p:cNvSpPr/>
          <p:nvPr/>
        </p:nvSpPr>
        <p:spPr>
          <a:xfrm>
            <a:off x="640080" y="3063240"/>
            <a:ext cx="502920" cy="502920"/>
          </a:xfrm>
          <a:prstGeom prst="ellipse">
            <a:avLst/>
          </a:prstGeom>
          <a:solidFill>
            <a:srgbClr val="8C1711"/>
          </a:solidFill>
          <a:ln/>
        </p:spPr>
      </p:sp>
      <p:pic>
        <p:nvPicPr>
          <p:cNvPr id="24" name="Image 3" descr="preencoded.png">    </p:cNvPr>
          <p:cNvPicPr>
            <a:picLocks noChangeAspect="1"/>
          </p:cNvPicPr>
          <p:nvPr/>
        </p:nvPicPr>
        <p:blipFill>
          <a:blip r:embed="rId4"/>
          <a:stretch>
            <a:fillRect/>
          </a:stretch>
        </p:blipFill>
        <p:spPr>
          <a:xfrm>
            <a:off x="749808" y="3172968"/>
            <a:ext cx="283464" cy="283464"/>
          </a:xfrm>
          <a:prstGeom prst="rect">
            <a:avLst/>
          </a:prstGeom>
        </p:spPr>
      </p:pic>
      <p:sp>
        <p:nvSpPr>
          <p:cNvPr id="25" name="Text 19"/>
          <p:cNvSpPr txBox="1"/>
          <p:nvPr/>
        </p:nvSpPr>
        <p:spPr>
          <a:xfrm>
            <a:off x="2560320" y="301752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4</a:t>
            </a:r>
            <a:endParaRPr lang="en-US" sz="1800" dirty="0"/>
          </a:p>
        </p:txBody>
      </p:sp>
      <p:sp>
        <p:nvSpPr>
          <p:cNvPr id="26" name="Text 20"/>
          <p:cNvSpPr txBox="1"/>
          <p:nvPr/>
        </p:nvSpPr>
        <p:spPr>
          <a:xfrm>
            <a:off x="1280160" y="306324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Integrate</a:t>
            </a:r>
            <a:endParaRPr lang="en-US" sz="1400" dirty="0"/>
          </a:p>
        </p:txBody>
      </p:sp>
      <p:sp>
        <p:nvSpPr>
          <p:cNvPr id="27" name="Text 21"/>
          <p:cNvSpPr txBox="1"/>
          <p:nvPr/>
        </p:nvSpPr>
        <p:spPr>
          <a:xfrm>
            <a:off x="640080" y="365760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Wire the pieces, build with -Wall -Wextra clean</a:t>
            </a:r>
            <a:endParaRPr lang="en-US" sz="1100" dirty="0"/>
          </a:p>
        </p:txBody>
      </p:sp>
      <p:sp>
        <p:nvSpPr>
          <p:cNvPr id="28" name="Shape 22"/>
          <p:cNvSpPr/>
          <p:nvPr/>
        </p:nvSpPr>
        <p:spPr>
          <a:xfrm>
            <a:off x="3246120" y="2880360"/>
            <a:ext cx="2606040" cy="1463040"/>
          </a:xfrm>
          <a:prstGeom prst="roundRect">
            <a:avLst>
              <a:gd name="adj" fmla="val 6250"/>
            </a:avLst>
          </a:prstGeom>
          <a:solidFill>
            <a:srgbClr val="17151C"/>
          </a:solidFill>
          <a:ln w="12700">
            <a:solidFill>
              <a:srgbClr val="221F28"/>
            </a:solidFill>
            <a:prstDash val="solid"/>
          </a:ln>
        </p:spPr>
      </p:sp>
      <p:sp>
        <p:nvSpPr>
          <p:cNvPr id="29" name="Shape 23"/>
          <p:cNvSpPr/>
          <p:nvPr/>
        </p:nvSpPr>
        <p:spPr>
          <a:xfrm>
            <a:off x="3429000" y="3063240"/>
            <a:ext cx="502920" cy="502920"/>
          </a:xfrm>
          <a:prstGeom prst="ellipse">
            <a:avLst/>
          </a:prstGeom>
          <a:solidFill>
            <a:srgbClr val="8C1711"/>
          </a:solidFill>
          <a:ln/>
        </p:spPr>
      </p:sp>
      <p:pic>
        <p:nvPicPr>
          <p:cNvPr id="30" name="Image 4" descr="preencoded.png">    </p:cNvPr>
          <p:cNvPicPr>
            <a:picLocks noChangeAspect="1"/>
          </p:cNvPicPr>
          <p:nvPr/>
        </p:nvPicPr>
        <p:blipFill>
          <a:blip r:embed="rId5"/>
          <a:stretch>
            <a:fillRect/>
          </a:stretch>
        </p:blipFill>
        <p:spPr>
          <a:xfrm>
            <a:off x="3538728" y="3172968"/>
            <a:ext cx="283464" cy="283464"/>
          </a:xfrm>
          <a:prstGeom prst="rect">
            <a:avLst/>
          </a:prstGeom>
        </p:spPr>
      </p:pic>
      <p:sp>
        <p:nvSpPr>
          <p:cNvPr id="31" name="Text 24"/>
          <p:cNvSpPr txBox="1"/>
          <p:nvPr/>
        </p:nvSpPr>
        <p:spPr>
          <a:xfrm>
            <a:off x="5349240" y="301752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5</a:t>
            </a:r>
            <a:endParaRPr lang="en-US" sz="1800" dirty="0"/>
          </a:p>
        </p:txBody>
      </p:sp>
      <p:sp>
        <p:nvSpPr>
          <p:cNvPr id="32" name="Text 25"/>
          <p:cNvSpPr txBox="1"/>
          <p:nvPr/>
        </p:nvSpPr>
        <p:spPr>
          <a:xfrm>
            <a:off x="4069080" y="306324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Verify</a:t>
            </a:r>
            <a:endParaRPr lang="en-US" sz="1400" dirty="0"/>
          </a:p>
        </p:txBody>
      </p:sp>
      <p:sp>
        <p:nvSpPr>
          <p:cNvPr id="33" name="Text 26"/>
          <p:cNvSpPr txBox="1"/>
          <p:nvPr/>
        </p:nvSpPr>
        <p:spPr>
          <a:xfrm>
            <a:off x="3429000" y="365760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Scripted scenarios, a bot player, screenshots, logs</a:t>
            </a:r>
            <a:endParaRPr lang="en-US" sz="1100" dirty="0"/>
          </a:p>
        </p:txBody>
      </p:sp>
      <p:sp>
        <p:nvSpPr>
          <p:cNvPr id="34" name="Shape 27"/>
          <p:cNvSpPr/>
          <p:nvPr/>
        </p:nvSpPr>
        <p:spPr>
          <a:xfrm>
            <a:off x="6035040" y="2880360"/>
            <a:ext cx="2606040" cy="1463040"/>
          </a:xfrm>
          <a:prstGeom prst="roundRect">
            <a:avLst>
              <a:gd name="adj" fmla="val 6250"/>
            </a:avLst>
          </a:prstGeom>
          <a:solidFill>
            <a:srgbClr val="17151C"/>
          </a:solidFill>
          <a:ln w="12700">
            <a:solidFill>
              <a:srgbClr val="221F28"/>
            </a:solidFill>
            <a:prstDash val="solid"/>
          </a:ln>
        </p:spPr>
      </p:sp>
      <p:sp>
        <p:nvSpPr>
          <p:cNvPr id="35" name="Shape 28"/>
          <p:cNvSpPr/>
          <p:nvPr/>
        </p:nvSpPr>
        <p:spPr>
          <a:xfrm>
            <a:off x="6217920" y="3063240"/>
            <a:ext cx="502920" cy="502920"/>
          </a:xfrm>
          <a:prstGeom prst="ellipse">
            <a:avLst/>
          </a:prstGeom>
          <a:solidFill>
            <a:srgbClr val="8C1711"/>
          </a:solidFill>
          <a:ln/>
        </p:spPr>
      </p:sp>
      <p:pic>
        <p:nvPicPr>
          <p:cNvPr id="36" name="Image 5" descr="preencoded.png">    </p:cNvPr>
          <p:cNvPicPr>
            <a:picLocks noChangeAspect="1"/>
          </p:cNvPicPr>
          <p:nvPr/>
        </p:nvPicPr>
        <p:blipFill>
          <a:blip r:embed="rId6"/>
          <a:stretch>
            <a:fillRect/>
          </a:stretch>
        </p:blipFill>
        <p:spPr>
          <a:xfrm>
            <a:off x="6327648" y="3172968"/>
            <a:ext cx="283464" cy="283464"/>
          </a:xfrm>
          <a:prstGeom prst="rect">
            <a:avLst/>
          </a:prstGeom>
        </p:spPr>
      </p:pic>
      <p:sp>
        <p:nvSpPr>
          <p:cNvPr id="37" name="Text 29"/>
          <p:cNvSpPr txBox="1"/>
          <p:nvPr/>
        </p:nvSpPr>
        <p:spPr>
          <a:xfrm>
            <a:off x="8138160" y="3017520"/>
            <a:ext cx="365760" cy="365760"/>
          </a:xfrm>
          <a:prstGeom prst="rect">
            <a:avLst/>
          </a:prstGeom>
          <a:noFill/>
          <a:ln/>
        </p:spPr>
        <p:txBody>
          <a:bodyPr wrap="square" lIns="0" tIns="0" rIns="0" bIns="0" rtlCol="0" anchor="ctr"/>
          <a:lstStyle/>
          <a:p>
            <a:pPr algn="r" indent="0" marL="0">
              <a:buNone/>
            </a:pPr>
            <a:r>
              <a:rPr lang="en-US" sz="1800" b="1" dirty="0">
                <a:solidFill>
                  <a:srgbClr val="6E6A70"/>
                </a:solidFill>
                <a:latin typeface="Arial" pitchFamily="34" charset="0"/>
                <a:ea typeface="Arial" pitchFamily="34" charset="-122"/>
                <a:cs typeface="Arial" pitchFamily="34" charset="-120"/>
              </a:rPr>
              <a:t>6</a:t>
            </a:r>
            <a:endParaRPr lang="en-US" sz="1800" dirty="0"/>
          </a:p>
        </p:txBody>
      </p:sp>
      <p:sp>
        <p:nvSpPr>
          <p:cNvPr id="38" name="Text 30"/>
          <p:cNvSpPr txBox="1"/>
          <p:nvPr/>
        </p:nvSpPr>
        <p:spPr>
          <a:xfrm>
            <a:off x="6858000" y="3063240"/>
            <a:ext cx="1371600" cy="457200"/>
          </a:xfrm>
          <a:prstGeom prst="rect">
            <a:avLst/>
          </a:prstGeom>
          <a:noFill/>
          <a:ln/>
        </p:spPr>
        <p:txBody>
          <a:bodyPr wrap="square" lIns="0" tIns="0" rIns="0" bIns="0" rtlCol="0" anchor="ctr"/>
          <a:lstStyle/>
          <a:p>
            <a:pPr indent="0" marL="0">
              <a:buNone/>
            </a:pPr>
            <a:r>
              <a:rPr lang="en-US" sz="1400" b="1" dirty="0">
                <a:solidFill>
                  <a:srgbClr val="EDE7E3"/>
                </a:solidFill>
                <a:latin typeface="Arial" pitchFamily="34" charset="0"/>
                <a:ea typeface="Arial" pitchFamily="34" charset="-122"/>
                <a:cs typeface="Arial" pitchFamily="34" charset="-120"/>
              </a:rPr>
              <a:t>Commit + iterate</a:t>
            </a:r>
            <a:endParaRPr lang="en-US" sz="1400" dirty="0"/>
          </a:p>
        </p:txBody>
      </p:sp>
      <p:sp>
        <p:nvSpPr>
          <p:cNvPr id="39" name="Text 31"/>
          <p:cNvSpPr txBox="1"/>
          <p:nvPr/>
        </p:nvSpPr>
        <p:spPr>
          <a:xfrm>
            <a:off x="6217920" y="3657600"/>
            <a:ext cx="2286000" cy="594360"/>
          </a:xfrm>
          <a:prstGeom prst="rect">
            <a:avLst/>
          </a:prstGeom>
          <a:noFill/>
          <a:ln/>
        </p:spPr>
        <p:txBody>
          <a:bodyPr wrap="square" lIns="0" tIns="0" rIns="0" bIns="0" rtlCol="0" anchor="t"/>
          <a:lstStyle/>
          <a:p>
            <a:pPr indent="0" marL="0">
              <a:buNone/>
            </a:pPr>
            <a:r>
              <a:rPr lang="en-US" sz="1100" dirty="0">
                <a:solidFill>
                  <a:srgbClr val="A39E99"/>
                </a:solidFill>
                <a:latin typeface="Calibri" pitchFamily="34" charset="0"/>
                <a:ea typeface="Calibri" pitchFamily="34" charset="-122"/>
                <a:cs typeface="Calibri" pitchFamily="34" charset="-120"/>
              </a:rPr>
              <a:t>Small commit, docs updated, next request</a:t>
            </a:r>
            <a:endParaRPr lang="en-US" sz="1100" dirty="0"/>
          </a:p>
        </p:txBody>
      </p:sp>
      <p:sp>
        <p:nvSpPr>
          <p:cNvPr id="40" name="Text 32"/>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1  ·  12:30 – 12:56</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Foundations before pixels</a:t>
            </a:r>
            <a:endParaRPr lang="en-US" sz="3000" dirty="0"/>
          </a:p>
        </p:txBody>
      </p:sp>
      <p:sp>
        <p:nvSpPr>
          <p:cNvPr id="4" name="Text 2"/>
          <p:cNvSpPr txBox="1"/>
          <p:nvPr/>
        </p:nvSpPr>
        <p:spPr>
          <a:xfrm>
            <a:off x="457200" y="1143000"/>
            <a:ext cx="4754880" cy="3383280"/>
          </a:xfrm>
          <a:prstGeom prst="rect">
            <a:avLst/>
          </a:prstGeom>
          <a:noFill/>
          <a:ln/>
        </p:spPr>
        <p:txBody>
          <a:bodyPr wrap="square" lIns="0" tIns="0" rIns="0" bIns="0" rtlCol="0" anchor="t"/>
          <a:lstStyle/>
          <a:p>
            <a:pPr indent="0" marL="0">
              <a:buNone/>
            </a:pPr>
            <a:r>
              <a:rPr lang="en-US" sz="1500" b="1" dirty="0">
                <a:solidFill>
                  <a:srgbClr val="F2C14E"/>
                </a:solidFill>
                <a:latin typeface="Calibri" pitchFamily="34" charset="0"/>
                <a:ea typeface="Calibri" pitchFamily="34" charset="-122"/>
                <a:cs typeface="Calibri" pitchFamily="34" charset="-120"/>
              </a:rPr>
              <a:t>Rules engine first, renderer second</a:t>
            </a:r>
            <a:endParaRPr lang="en-US" sz="1500" dirty="0"/>
          </a:p>
          <a:p>
            <a:pPr indent="0" marL="0">
              <a:buNone/>
            </a:pPr>
            <a:r>
              <a:rPr lang="en-US" sz="1200" dirty="0">
                <a:solidFill>
                  <a:srgbClr val="EDE7E3"/>
                </a:solidFill>
                <a:latin typeface="Calibri" pitchFamily="34" charset="0"/>
                <a:ea typeface="Calibri" pitchFamily="34" charset="-122"/>
                <a:cs typeface="Calibri" pitchFamily="34" charset="-120"/>
              </a:rPr>
              <a:t>The block game lives in a dependency-free module with a deterministic seed. It was written and unit-tested before a single Vulkan call existed, so every later rule change had a place to be proven.</a:t>
            </a:r>
            <a:endParaRPr lang="en-US" sz="15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2C14E"/>
                </a:solidFill>
                <a:latin typeface="Calibri" pitchFamily="34" charset="0"/>
                <a:ea typeface="Calibri" pitchFamily="34" charset="-122"/>
                <a:cs typeface="Calibri" pitchFamily="34" charset="-120"/>
              </a:rPr>
              <a:t>What the first hour produced</a:t>
            </a:r>
            <a:endParaRPr lang="en-US" sz="1500" dirty="0"/>
          </a:p>
          <a:p>
            <a:pPr marL="342900" indent="-342900">
              <a:spcAft>
                <a:spcPts val="400"/>
              </a:spcAft>
              <a:buSzPct val="100000"/>
              <a:buChar char="•"/>
            </a:pPr>
            <a:r>
              <a:rPr lang="en-US" sz="1200" dirty="0">
                <a:solidFill>
                  <a:srgbClr val="EDE7E3"/>
                </a:solidFill>
                <a:latin typeface="Calibri" pitchFamily="34" charset="0"/>
                <a:ea typeface="Calibri" pitchFamily="34" charset="-122"/>
                <a:cs typeface="Calibri" pitchFamily="34" charset="-120"/>
              </a:rPr>
              <a:t>CMake build with shaders compiled and embedded at build time</a:t>
            </a:r>
            <a:endParaRPr lang="en-US" sz="1500" dirty="0"/>
          </a:p>
          <a:p>
            <a:pPr marL="342900" indent="-342900">
              <a:spcAft>
                <a:spcPts val="400"/>
              </a:spcAft>
              <a:buSzPct val="100000"/>
              <a:buChar char="•"/>
            </a:pPr>
            <a:r>
              <a:rPr lang="en-US" sz="1200" dirty="0">
                <a:solidFill>
                  <a:srgbClr val="EDE7E3"/>
                </a:solidFill>
                <a:latin typeface="Calibri" pitchFamily="34" charset="0"/>
                <a:ea typeface="Calibri" pitchFamily="34" charset="-122"/>
                <a:cs typeface="Calibri" pitchFamily="34" charset="-120"/>
              </a:rPr>
              <a:t>Vulkan 1.3 context: dynamic rendering, two frames in flight, screenshot read-back</a:t>
            </a:r>
            <a:endParaRPr lang="en-US" sz="1500" dirty="0"/>
          </a:p>
          <a:p>
            <a:pPr marL="342900" indent="-342900">
              <a:spcAft>
                <a:spcPts val="400"/>
              </a:spcAft>
              <a:buSzPct val="100000"/>
              <a:buChar char="•"/>
            </a:pPr>
            <a:r>
              <a:rPr lang="en-US" sz="1200" dirty="0">
                <a:solidFill>
                  <a:srgbClr val="EDE7E3"/>
                </a:solidFill>
                <a:latin typeface="Calibri" pitchFamily="34" charset="0"/>
                <a:ea typeface="Calibri" pitchFamily="34" charset="-122"/>
                <a:cs typeface="Calibri" pitchFamily="34" charset="-120"/>
              </a:rPr>
              <a:t>Instanced cubes and billboards from one texture atlas</a:t>
            </a:r>
            <a:endParaRPr lang="en-US" sz="1500" dirty="0"/>
          </a:p>
          <a:p>
            <a:pPr marL="342900" indent="-342900">
              <a:spcAft>
                <a:spcPts val="400"/>
              </a:spcAft>
              <a:buSzPct val="100000"/>
              <a:buChar char="•"/>
            </a:pPr>
            <a:r>
              <a:rPr lang="en-US" sz="1200" dirty="0">
                <a:solidFill>
                  <a:srgbClr val="EDE7E3"/>
                </a:solidFill>
                <a:latin typeface="Calibri" pitchFamily="34" charset="0"/>
                <a:ea typeface="Calibri" pitchFamily="34" charset="-122"/>
                <a:cs typeface="Calibri" pitchFamily="34" charset="-120"/>
              </a:rPr>
              <a:t>Procedural fallback art and sounds so it runs without a WAD</a:t>
            </a:r>
            <a:endParaRPr lang="en-US" sz="1500" dirty="0"/>
          </a:p>
          <a:p>
            <a:pPr marL="342900" indent="-342900">
              <a:buSzPct val="100000"/>
              <a:buChar char="•"/>
            </a:pPr>
            <a:r>
              <a:rPr lang="en-US" sz="1200" dirty="0">
                <a:solidFill>
                  <a:srgbClr val="EDE7E3"/>
                </a:solidFill>
                <a:latin typeface="Calibri" pitchFamily="34" charset="0"/>
                <a:ea typeface="Calibri" pitchFamily="34" charset="-122"/>
                <a:cs typeface="Calibri" pitchFamily="34" charset="-120"/>
              </a:rPr>
              <a:t>Nine rule tests that grew to 119 checks by the end of the day</a:t>
            </a:r>
            <a:endParaRPr lang="en-US" sz="1500" dirty="0"/>
          </a:p>
        </p:txBody>
      </p:sp>
      <p:sp>
        <p:nvSpPr>
          <p:cNvPr id="5" name="Shape 3"/>
          <p:cNvSpPr/>
          <p:nvPr/>
        </p:nvSpPr>
        <p:spPr>
          <a:xfrm>
            <a:off x="5486400" y="1143000"/>
            <a:ext cx="3200400" cy="3383280"/>
          </a:xfrm>
          <a:prstGeom prst="roundRect">
            <a:avLst>
              <a:gd name="adj" fmla="val 2857"/>
            </a:avLst>
          </a:prstGeom>
          <a:solidFill>
            <a:srgbClr val="17151C"/>
          </a:solidFill>
          <a:ln w="12700">
            <a:solidFill>
              <a:srgbClr val="221F28"/>
            </a:solidFill>
            <a:prstDash val="solid"/>
          </a:ln>
        </p:spPr>
      </p:sp>
      <p:sp>
        <p:nvSpPr>
          <p:cNvPr id="6" name="Text 4"/>
          <p:cNvSpPr txBox="1"/>
          <p:nvPr/>
        </p:nvSpPr>
        <p:spPr>
          <a:xfrm>
            <a:off x="5669280" y="1234440"/>
            <a:ext cx="2834640" cy="274320"/>
          </a:xfrm>
          <a:prstGeom prst="rect">
            <a:avLst/>
          </a:prstGeom>
          <a:noFill/>
          <a:ln/>
        </p:spPr>
        <p:txBody>
          <a:bodyPr wrap="square" lIns="0" tIns="0" rIns="0" bIns="0" rtlCol="0" anchor="ctr"/>
          <a:lstStyle/>
          <a:p>
            <a:pPr indent="0" marL="0">
              <a:buNone/>
            </a:pPr>
            <a:r>
              <a:rPr lang="en-US" sz="1000" dirty="0">
                <a:solidFill>
                  <a:srgbClr val="F2C14E"/>
                </a:solidFill>
                <a:latin typeface="Courier New" pitchFamily="34" charset="0"/>
                <a:ea typeface="Courier New" pitchFamily="34" charset="-122"/>
                <a:cs typeface="Courier New" pitchFamily="34" charset="-120"/>
              </a:rPr>
              <a:t>tests/tetris_test.cpp</a:t>
            </a:r>
            <a:endParaRPr lang="en-US" sz="1000" dirty="0"/>
          </a:p>
        </p:txBody>
      </p:sp>
      <p:sp>
        <p:nvSpPr>
          <p:cNvPr id="7" name="Text 5"/>
          <p:cNvSpPr txBox="1"/>
          <p:nvPr/>
        </p:nvSpPr>
        <p:spPr>
          <a:xfrm>
            <a:off x="5669280" y="1554480"/>
            <a:ext cx="2834640" cy="2834640"/>
          </a:xfrm>
          <a:prstGeom prst="rect">
            <a:avLst/>
          </a:prstGeom>
          <a:noFill/>
          <a:ln/>
        </p:spPr>
        <p:txBody>
          <a:bodyPr wrap="square" lIns="0" tIns="0" rIns="0" bIns="0" rtlCol="0" anchor="t"/>
          <a:lstStyle/>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testClassicLineClear</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testRedCellSurvivesClear</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testRedCellsStayInPiece</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testRedLineTrigger</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testRedRowDoesNotClear</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testRedRegions</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testScoring / testCascadeChain</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testCorruption</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testEvilSpawn</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testPanicAndPurge</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testPrizes</a:t>
            </a:r>
            <a:endParaRPr lang="en-US" sz="1050" dirty="0"/>
          </a:p>
          <a:p>
            <a:pPr indent="0" marL="0">
              <a:spcAft>
                <a:spcPts val="300"/>
              </a:spcAft>
              <a:buNone/>
            </a:pPr>
            <a:r>
              <a:rPr lang="en-US" sz="1050" dirty="0">
                <a:solidFill>
                  <a:srgbClr val="EDE7E3"/>
                </a:solidFill>
                <a:latin typeface="Courier New" pitchFamily="34" charset="0"/>
                <a:ea typeface="Courier New" pitchFamily="34" charset="-122"/>
                <a:cs typeface="Courier New" pitchFamily="34" charset="-120"/>
              </a:rPr>
              <a:t>testDeterminism</a:t>
            </a:r>
            <a:endParaRPr lang="en-US" sz="1050" dirty="0"/>
          </a:p>
        </p:txBody>
      </p:sp>
      <p:sp>
        <p:nvSpPr>
          <p:cNvPr id="8" name="Text 6"/>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2  ·  DELEGATION</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Hand off a module, keep the contract</a:t>
            </a:r>
            <a:endParaRPr lang="en-US" sz="3000" dirty="0"/>
          </a:p>
        </p:txBody>
      </p:sp>
      <p:sp>
        <p:nvSpPr>
          <p:cNvPr id="4" name="Shape 2"/>
          <p:cNvSpPr/>
          <p:nvPr/>
        </p:nvSpPr>
        <p:spPr>
          <a:xfrm>
            <a:off x="411480" y="1097280"/>
            <a:ext cx="4114800" cy="2354580"/>
          </a:xfrm>
          <a:prstGeom prst="roundRect">
            <a:avLst>
              <a:gd name="adj" fmla="val 3107"/>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5" name="Image 0" descr="/tmp/claude-1000/-home-davidj-Claude-Data/52a1801d-3e32-4d0a-8d76-a2b84efc293f/scratchpad/deck/shots/shot_countdown.jpg">    </p:cNvPr>
          <p:cNvPicPr>
            <a:picLocks noChangeAspect="1"/>
          </p:cNvPicPr>
          <p:nvPr/>
        </p:nvPicPr>
        <p:blipFill>
          <a:blip r:embed="rId1"/>
          <a:stretch>
            <a:fillRect/>
          </a:stretch>
        </p:blipFill>
        <p:spPr>
          <a:xfrm>
            <a:off x="457200" y="1143000"/>
            <a:ext cx="4023360" cy="2263140"/>
          </a:xfrm>
          <a:prstGeom prst="rect">
            <a:avLst/>
          </a:prstGeom>
        </p:spPr>
      </p:pic>
      <p:sp>
        <p:nvSpPr>
          <p:cNvPr id="6" name="Text 3"/>
          <p:cNvSpPr txBox="1"/>
          <p:nvPr/>
        </p:nvSpPr>
        <p:spPr>
          <a:xfrm>
            <a:off x="457200" y="3474720"/>
            <a:ext cx="4023360" cy="365760"/>
          </a:xfrm>
          <a:prstGeom prst="rect">
            <a:avLst/>
          </a:prstGeom>
          <a:noFill/>
          <a:ln/>
        </p:spPr>
        <p:txBody>
          <a:bodyPr wrap="square" lIns="0" tIns="0" rIns="0" bIns="0" rtlCol="0" anchor="ctr"/>
          <a:lstStyle/>
          <a:p>
            <a:pPr indent="0" marL="0">
              <a:buNone/>
            </a:pPr>
            <a:r>
              <a:rPr lang="en-US" sz="1000" i="1" dirty="0">
                <a:solidFill>
                  <a:srgbClr val="A39E99"/>
                </a:solidFill>
                <a:latin typeface="Calibri" pitchFamily="34" charset="0"/>
                <a:ea typeface="Calibri" pitchFamily="34" charset="-122"/>
                <a:cs typeface="Calibri" pitchFamily="34" charset="-120"/>
              </a:rPr>
              <a:t>Real Doom sprites, textures, font and sounds, decoded by the delegated WAD reader.</a:t>
            </a:r>
            <a:endParaRPr lang="en-US" sz="1000" dirty="0"/>
          </a:p>
        </p:txBody>
      </p:sp>
      <p:sp>
        <p:nvSpPr>
          <p:cNvPr id="7" name="Text 4"/>
          <p:cNvSpPr txBox="1"/>
          <p:nvPr/>
        </p:nvSpPr>
        <p:spPr>
          <a:xfrm>
            <a:off x="4846320" y="1143000"/>
            <a:ext cx="3840480" cy="3383280"/>
          </a:xfrm>
          <a:prstGeom prst="rect">
            <a:avLst/>
          </a:prstGeom>
          <a:noFill/>
          <a:ln/>
        </p:spPr>
        <p:txBody>
          <a:bodyPr wrap="square" lIns="0" tIns="0" rIns="0" bIns="0" rtlCol="0" anchor="t"/>
          <a:lstStyle/>
          <a:p>
            <a:pPr indent="0" marL="0">
              <a:buNone/>
            </a:pPr>
            <a:r>
              <a:rPr lang="en-US" sz="1500" b="1" dirty="0">
                <a:solidFill>
                  <a:srgbClr val="F2C14E"/>
                </a:solidFill>
                <a:latin typeface="Calibri" pitchFamily="34" charset="0"/>
                <a:ea typeface="Calibri" pitchFamily="34" charset="-122"/>
                <a:cs typeface="Calibri" pitchFamily="34" charset="-120"/>
              </a:rPr>
              <a:t>The WAD reader was written by a subagent</a:t>
            </a:r>
            <a:endParaRPr lang="en-US" sz="1500" dirty="0"/>
          </a:p>
          <a:p>
            <a:pPr indent="0" marL="0">
              <a:buNone/>
            </a:pPr>
            <a:r>
              <a:rPr lang="en-US" sz="1200" dirty="0">
                <a:solidFill>
                  <a:srgbClr val="EDE7E3"/>
                </a:solidFill>
                <a:latin typeface="Calibri" pitchFamily="34" charset="0"/>
                <a:ea typeface="Calibri" pitchFamily="34" charset="-122"/>
                <a:cs typeface="Calibri" pitchFamily="34" charset="-120"/>
              </a:rPr>
              <a:t>While the main session built the renderer, a second agent got a written spec: the exact public API, the binary formats, robustness rules, and a synthetic-WAD test to write first.</a:t>
            </a:r>
            <a:endParaRPr lang="en-US" sz="15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buNone/>
            </a:pPr>
            <a:r>
              <a:rPr lang="en-US" sz="1300" b="1" dirty="0">
                <a:solidFill>
                  <a:srgbClr val="F2C14E"/>
                </a:solidFill>
                <a:latin typeface="Calibri" pitchFamily="34" charset="0"/>
                <a:ea typeface="Calibri" pitchFamily="34" charset="-122"/>
                <a:cs typeface="Calibri" pitchFamily="34" charset="-120"/>
              </a:rPr>
              <a:t>It came back with a report, not just code:</a:t>
            </a:r>
            <a:endParaRPr lang="en-US" sz="1500" dirty="0"/>
          </a:p>
          <a:p>
            <a:pPr marL="342900" indent="-342900">
              <a:spcAft>
                <a:spcPts val="300"/>
              </a:spcAft>
              <a:buSzPct val="100000"/>
              <a:buChar char="•"/>
            </a:pPr>
            <a:r>
              <a:rPr lang="en-US" sz="1200" dirty="0">
                <a:solidFill>
                  <a:srgbClr val="EDE7E3"/>
                </a:solidFill>
                <a:latin typeface="Calibri" pitchFamily="34" charset="0"/>
                <a:ea typeface="Calibri" pitchFamily="34" charset="-122"/>
                <a:cs typeface="Calibri" pitchFamily="34" charset="-120"/>
              </a:rPr>
              <a:t>1,456 checks passing, clean under ASan and UBSan</a:t>
            </a:r>
            <a:endParaRPr lang="en-US" sz="1500" dirty="0"/>
          </a:p>
          <a:p>
            <a:pPr marL="342900" indent="-342900">
              <a:spcAft>
                <a:spcPts val="300"/>
              </a:spcAft>
              <a:buSzPct val="100000"/>
              <a:buChar char="•"/>
            </a:pPr>
            <a:r>
              <a:rPr lang="en-US" sz="1200" dirty="0">
                <a:solidFill>
                  <a:srgbClr val="EDE7E3"/>
                </a:solidFill>
                <a:latin typeface="Calibri" pitchFamily="34" charset="0"/>
                <a:ea typeface="Calibri" pitchFamily="34" charset="-122"/>
                <a:cs typeface="Calibri" pitchFamily="34" charset="-120"/>
              </a:rPr>
              <a:t>Validated against the real doom.wad and doom2.wad: 764 sprites, 287 textures, 122 sounds, all decoded</a:t>
            </a:r>
            <a:endParaRPr lang="en-US" sz="1500" dirty="0"/>
          </a:p>
          <a:p>
            <a:pPr marL="342900" indent="-342900">
              <a:spcAft>
                <a:spcPts val="300"/>
              </a:spcAft>
              <a:buSzPct val="100000"/>
              <a:buChar char="•"/>
            </a:pPr>
            <a:r>
              <a:rPr lang="en-US" sz="1200" dirty="0">
                <a:solidFill>
                  <a:srgbClr val="EDE7E3"/>
                </a:solidFill>
                <a:latin typeface="Calibri" pitchFamily="34" charset="0"/>
                <a:ea typeface="Calibri" pitchFamily="34" charset="-122"/>
                <a:cs typeface="Calibri" pitchFamily="34" charset="-120"/>
              </a:rPr>
              <a:t>Ten listed deviations from the spec, each explained</a:t>
            </a:r>
            <a:endParaRPr lang="en-US" sz="1500" dirty="0"/>
          </a:p>
          <a:p>
            <a:pPr indent="0" marL="0">
              <a:buNone/>
            </a:pPr>
            <a:r>
              <a:rPr lang="en-US" sz="1200" dirty="0">
                <a:solidFill>
                  <a:srgbClr val="A39E99"/>
                </a:solidFill>
                <a:latin typeface="Calibri" pitchFamily="34" charset="0"/>
                <a:ea typeface="Calibri" pitchFamily="34" charset="-122"/>
                <a:cs typeface="Calibri" pitchFamily="34" charset="-120"/>
              </a:rPr>
              <a:t>Later the same pattern produced the OPL3 synthesizer.</a:t>
            </a:r>
            <a:endParaRPr lang="en-US" sz="1500" dirty="0"/>
          </a:p>
        </p:txBody>
      </p:sp>
      <p:sp>
        <p:nvSpPr>
          <p:cNvPr id="8" name="Text 5"/>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3  ·  12:56</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The first playable loop</a:t>
            </a:r>
            <a:endParaRPr lang="en-US" sz="3000" dirty="0"/>
          </a:p>
        </p:txBody>
      </p:sp>
      <p:sp>
        <p:nvSpPr>
          <p:cNvPr id="4" name="Shape 2"/>
          <p:cNvSpPr/>
          <p:nvPr/>
        </p:nvSpPr>
        <p:spPr>
          <a:xfrm>
            <a:off x="457200" y="1143000"/>
            <a:ext cx="1051560" cy="411480"/>
          </a:xfrm>
          <a:prstGeom prst="roundRect">
            <a:avLst>
              <a:gd name="adj" fmla="val 17778"/>
            </a:avLst>
          </a:prstGeom>
          <a:solidFill>
            <a:srgbClr val="17151C"/>
          </a:solidFill>
          <a:ln w="12700">
            <a:solidFill>
              <a:srgbClr val="221F28"/>
            </a:solidFill>
            <a:prstDash val="solid"/>
          </a:ln>
        </p:spPr>
      </p:sp>
      <p:sp>
        <p:nvSpPr>
          <p:cNvPr id="5" name="Text 3"/>
          <p:cNvSpPr txBox="1"/>
          <p:nvPr/>
        </p:nvSpPr>
        <p:spPr>
          <a:xfrm>
            <a:off x="45720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Blocks</a:t>
            </a:r>
            <a:endParaRPr lang="en-US" sz="1100" dirty="0"/>
          </a:p>
        </p:txBody>
      </p:sp>
      <p:sp>
        <p:nvSpPr>
          <p:cNvPr id="6" name="Text 4"/>
          <p:cNvSpPr txBox="1"/>
          <p:nvPr/>
        </p:nvSpPr>
        <p:spPr>
          <a:xfrm>
            <a:off x="150876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1645920" y="1143000"/>
            <a:ext cx="1051560" cy="411480"/>
          </a:xfrm>
          <a:prstGeom prst="roundRect">
            <a:avLst>
              <a:gd name="adj" fmla="val 17778"/>
            </a:avLst>
          </a:prstGeom>
          <a:solidFill>
            <a:srgbClr val="17151C"/>
          </a:solidFill>
          <a:ln w="12700">
            <a:solidFill>
              <a:srgbClr val="221F28"/>
            </a:solidFill>
            <a:prstDash val="solid"/>
          </a:ln>
        </p:spPr>
      </p:sp>
      <p:sp>
        <p:nvSpPr>
          <p:cNvPr id="8" name="Text 6"/>
          <p:cNvSpPr txBox="1"/>
          <p:nvPr/>
        </p:nvSpPr>
        <p:spPr>
          <a:xfrm>
            <a:off x="164592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Alert</a:t>
            </a:r>
            <a:endParaRPr lang="en-US" sz="1100" dirty="0"/>
          </a:p>
        </p:txBody>
      </p:sp>
      <p:sp>
        <p:nvSpPr>
          <p:cNvPr id="9" name="Text 7"/>
          <p:cNvSpPr txBox="1"/>
          <p:nvPr/>
        </p:nvSpPr>
        <p:spPr>
          <a:xfrm>
            <a:off x="269748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2834640" y="1143000"/>
            <a:ext cx="1051560" cy="411480"/>
          </a:xfrm>
          <a:prstGeom prst="roundRect">
            <a:avLst>
              <a:gd name="adj" fmla="val 17778"/>
            </a:avLst>
          </a:prstGeom>
          <a:solidFill>
            <a:srgbClr val="17151C"/>
          </a:solidFill>
          <a:ln w="12700">
            <a:solidFill>
              <a:srgbClr val="221F28"/>
            </a:solidFill>
            <a:prstDash val="solid"/>
          </a:ln>
        </p:spPr>
      </p:sp>
      <p:sp>
        <p:nvSpPr>
          <p:cNvPr id="11" name="Text 9"/>
          <p:cNvSpPr txBox="1"/>
          <p:nvPr/>
        </p:nvSpPr>
        <p:spPr>
          <a:xfrm>
            <a:off x="283464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Fly-in</a:t>
            </a:r>
            <a:endParaRPr lang="en-US" sz="1100" dirty="0"/>
          </a:p>
        </p:txBody>
      </p:sp>
      <p:sp>
        <p:nvSpPr>
          <p:cNvPr id="12" name="Text 10"/>
          <p:cNvSpPr txBox="1"/>
          <p:nvPr/>
        </p:nvSpPr>
        <p:spPr>
          <a:xfrm>
            <a:off x="388620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023360" y="1143000"/>
            <a:ext cx="1051560" cy="411480"/>
          </a:xfrm>
          <a:prstGeom prst="roundRect">
            <a:avLst>
              <a:gd name="adj" fmla="val 17778"/>
            </a:avLst>
          </a:prstGeom>
          <a:solidFill>
            <a:srgbClr val="17151C"/>
          </a:solidFill>
          <a:ln w="12700">
            <a:solidFill>
              <a:srgbClr val="221F28"/>
            </a:solidFill>
            <a:prstDash val="solid"/>
          </a:ln>
        </p:spPr>
      </p:sp>
      <p:sp>
        <p:nvSpPr>
          <p:cNvPr id="14" name="Text 12"/>
          <p:cNvSpPr txBox="1"/>
          <p:nvPr/>
        </p:nvSpPr>
        <p:spPr>
          <a:xfrm>
            <a:off x="402336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Countdown</a:t>
            </a:r>
            <a:endParaRPr lang="en-US" sz="1100" dirty="0"/>
          </a:p>
        </p:txBody>
      </p:sp>
      <p:sp>
        <p:nvSpPr>
          <p:cNvPr id="15" name="Text 13"/>
          <p:cNvSpPr txBox="1"/>
          <p:nvPr/>
        </p:nvSpPr>
        <p:spPr>
          <a:xfrm>
            <a:off x="507492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5212080" y="1143000"/>
            <a:ext cx="1051560" cy="411480"/>
          </a:xfrm>
          <a:prstGeom prst="roundRect">
            <a:avLst>
              <a:gd name="adj" fmla="val 17778"/>
            </a:avLst>
          </a:prstGeom>
          <a:solidFill>
            <a:srgbClr val="8C1711"/>
          </a:solidFill>
          <a:ln w="12700">
            <a:solidFill>
              <a:srgbClr val="221F28"/>
            </a:solidFill>
            <a:prstDash val="solid"/>
          </a:ln>
        </p:spPr>
      </p:sp>
      <p:sp>
        <p:nvSpPr>
          <p:cNvPr id="17" name="Text 15"/>
          <p:cNvSpPr txBox="1"/>
          <p:nvPr/>
        </p:nvSpPr>
        <p:spPr>
          <a:xfrm>
            <a:off x="521208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Fight</a:t>
            </a:r>
            <a:endParaRPr lang="en-US" sz="1100" dirty="0"/>
          </a:p>
        </p:txBody>
      </p:sp>
      <p:sp>
        <p:nvSpPr>
          <p:cNvPr id="18" name="Text 16"/>
          <p:cNvSpPr txBox="1"/>
          <p:nvPr/>
        </p:nvSpPr>
        <p:spPr>
          <a:xfrm>
            <a:off x="626364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6400800" y="1143000"/>
            <a:ext cx="1051560" cy="411480"/>
          </a:xfrm>
          <a:prstGeom prst="roundRect">
            <a:avLst>
              <a:gd name="adj" fmla="val 17778"/>
            </a:avLst>
          </a:prstGeom>
          <a:solidFill>
            <a:srgbClr val="17151C"/>
          </a:solidFill>
          <a:ln w="12700">
            <a:solidFill>
              <a:srgbClr val="221F28"/>
            </a:solidFill>
            <a:prstDash val="solid"/>
          </a:ln>
        </p:spPr>
      </p:sp>
      <p:sp>
        <p:nvSpPr>
          <p:cNvPr id="20" name="Text 18"/>
          <p:cNvSpPr txBox="1"/>
          <p:nvPr/>
        </p:nvSpPr>
        <p:spPr>
          <a:xfrm>
            <a:off x="640080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Fly-out</a:t>
            </a:r>
            <a:endParaRPr lang="en-US" sz="1100" dirty="0"/>
          </a:p>
        </p:txBody>
      </p:sp>
      <p:sp>
        <p:nvSpPr>
          <p:cNvPr id="21" name="Text 19"/>
          <p:cNvSpPr txBox="1"/>
          <p:nvPr/>
        </p:nvSpPr>
        <p:spPr>
          <a:xfrm>
            <a:off x="7452360" y="1143000"/>
            <a:ext cx="137160" cy="411480"/>
          </a:xfrm>
          <a:prstGeom prst="rect">
            <a:avLst/>
          </a:prstGeom>
          <a:noFill/>
          <a:ln/>
        </p:spPr>
        <p:txBody>
          <a:bodyPr wrap="square" lIns="0" tIns="0" rIns="0" bIns="0" rtlCol="0" anchor="ctr"/>
          <a:lstStyle/>
          <a:p>
            <a:pPr algn="ctr" indent="0" marL="0">
              <a:buNone/>
            </a:pPr>
            <a:r>
              <a:rPr lang="en-US" sz="1400" dirty="0">
                <a:solidFill>
                  <a:srgbClr val="F2C14E"/>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7589520" y="1143000"/>
            <a:ext cx="1051560" cy="411480"/>
          </a:xfrm>
          <a:prstGeom prst="roundRect">
            <a:avLst>
              <a:gd name="adj" fmla="val 17778"/>
            </a:avLst>
          </a:prstGeom>
          <a:solidFill>
            <a:srgbClr val="17151C"/>
          </a:solidFill>
          <a:ln w="12700">
            <a:solidFill>
              <a:srgbClr val="221F28"/>
            </a:solidFill>
            <a:prstDash val="solid"/>
          </a:ln>
        </p:spPr>
      </p:sp>
      <p:sp>
        <p:nvSpPr>
          <p:cNvPr id="23" name="Text 21"/>
          <p:cNvSpPr txBox="1"/>
          <p:nvPr/>
        </p:nvSpPr>
        <p:spPr>
          <a:xfrm>
            <a:off x="7589520" y="1143000"/>
            <a:ext cx="1051560" cy="411480"/>
          </a:xfrm>
          <a:prstGeom prst="rect">
            <a:avLst/>
          </a:prstGeom>
          <a:noFill/>
          <a:ln/>
        </p:spPr>
        <p:txBody>
          <a:bodyPr wrap="square" lIns="0" tIns="0" rIns="0" bIns="0" rtlCol="0" anchor="ctr"/>
          <a:lstStyle/>
          <a:p>
            <a:pPr algn="ctr" indent="0" marL="0">
              <a:buNone/>
            </a:pPr>
            <a:r>
              <a:rPr lang="en-US" sz="1100" b="1" dirty="0">
                <a:solidFill>
                  <a:srgbClr val="EDE7E3"/>
                </a:solidFill>
                <a:latin typeface="Arial" pitchFamily="34" charset="0"/>
                <a:ea typeface="Arial" pitchFamily="34" charset="-122"/>
                <a:cs typeface="Arial" pitchFamily="34" charset="-120"/>
              </a:rPr>
              <a:t>Level up</a:t>
            </a:r>
            <a:endParaRPr lang="en-US" sz="1100" dirty="0"/>
          </a:p>
        </p:txBody>
      </p:sp>
      <p:sp>
        <p:nvSpPr>
          <p:cNvPr id="24" name="Shape 22"/>
          <p:cNvSpPr/>
          <p:nvPr/>
        </p:nvSpPr>
        <p:spPr>
          <a:xfrm>
            <a:off x="411480" y="1737360"/>
            <a:ext cx="4114800" cy="2354580"/>
          </a:xfrm>
          <a:prstGeom prst="roundRect">
            <a:avLst>
              <a:gd name="adj" fmla="val 3107"/>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25" name="Image 0" descr="/tmp/claude-1000/-home-davidj-Claude-Data/52a1801d-3e32-4d0a-8d76-a2b84efc293f/scratchpad/deck/shots/shot_flyin.jpg">    </p:cNvPr>
          <p:cNvPicPr>
            <a:picLocks noChangeAspect="1"/>
          </p:cNvPicPr>
          <p:nvPr/>
        </p:nvPicPr>
        <p:blipFill>
          <a:blip r:embed="rId1"/>
          <a:stretch>
            <a:fillRect/>
          </a:stretch>
        </p:blipFill>
        <p:spPr>
          <a:xfrm>
            <a:off x="457200" y="1783080"/>
            <a:ext cx="4023360" cy="2263140"/>
          </a:xfrm>
          <a:prstGeom prst="rect">
            <a:avLst/>
          </a:prstGeom>
        </p:spPr>
      </p:pic>
      <p:sp>
        <p:nvSpPr>
          <p:cNvPr id="26" name="Shape 23"/>
          <p:cNvSpPr/>
          <p:nvPr/>
        </p:nvSpPr>
        <p:spPr>
          <a:xfrm>
            <a:off x="4617720" y="1737360"/>
            <a:ext cx="4114800" cy="2354580"/>
          </a:xfrm>
          <a:prstGeom prst="roundRect">
            <a:avLst>
              <a:gd name="adj" fmla="val 3107"/>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27" name="Image 1" descr="/tmp/claude-1000/-home-davidj-Claude-Data/52a1801d-3e32-4d0a-8d76-a2b84efc293f/scratchpad/deck/shots/shot_levelcard.jpg">    </p:cNvPr>
          <p:cNvPicPr>
            <a:picLocks noChangeAspect="1"/>
          </p:cNvPicPr>
          <p:nvPr/>
        </p:nvPicPr>
        <p:blipFill>
          <a:blip r:embed="rId2"/>
          <a:stretch>
            <a:fillRect/>
          </a:stretch>
        </p:blipFill>
        <p:spPr>
          <a:xfrm>
            <a:off x="4663440" y="1783080"/>
            <a:ext cx="4023360" cy="2263140"/>
          </a:xfrm>
          <a:prstGeom prst="rect">
            <a:avLst/>
          </a:prstGeom>
        </p:spPr>
      </p:pic>
      <p:sp>
        <p:nvSpPr>
          <p:cNvPr id="28" name="Text 24"/>
          <p:cNvSpPr txBox="1"/>
          <p:nvPr/>
        </p:nvSpPr>
        <p:spPr>
          <a:xfrm>
            <a:off x="457200" y="4114800"/>
            <a:ext cx="4023360" cy="274320"/>
          </a:xfrm>
          <a:prstGeom prst="rect">
            <a:avLst/>
          </a:prstGeom>
          <a:noFill/>
          <a:ln/>
        </p:spPr>
        <p:txBody>
          <a:bodyPr wrap="square" lIns="0" tIns="0" rIns="0" bIns="0" rtlCol="0" anchor="ctr"/>
          <a:lstStyle/>
          <a:p>
            <a:pPr indent="0" marL="0">
              <a:buNone/>
            </a:pPr>
            <a:r>
              <a:rPr lang="en-US" sz="1000" i="1" dirty="0">
                <a:solidFill>
                  <a:srgbClr val="A39E99"/>
                </a:solidFill>
                <a:latin typeface="Calibri" pitchFamily="34" charset="0"/>
                <a:ea typeface="Calibri" pitchFamily="34" charset="-122"/>
                <a:cs typeface="Calibri" pitchFamily="34" charset="-120"/>
              </a:rPr>
              <a:t>The board hinges over onto the floor; the player lands inside it.</a:t>
            </a:r>
            <a:endParaRPr lang="en-US" sz="1000" dirty="0"/>
          </a:p>
        </p:txBody>
      </p:sp>
      <p:sp>
        <p:nvSpPr>
          <p:cNvPr id="29" name="Text 25"/>
          <p:cNvSpPr txBox="1"/>
          <p:nvPr/>
        </p:nvSpPr>
        <p:spPr>
          <a:xfrm>
            <a:off x="4663440" y="4114800"/>
            <a:ext cx="4023360" cy="274320"/>
          </a:xfrm>
          <a:prstGeom prst="rect">
            <a:avLst/>
          </a:prstGeom>
          <a:noFill/>
          <a:ln/>
        </p:spPr>
        <p:txBody>
          <a:bodyPr wrap="square" lIns="0" tIns="0" rIns="0" bIns="0" rtlCol="0" anchor="ctr"/>
          <a:lstStyle/>
          <a:p>
            <a:pPr indent="0" marL="0">
              <a:buNone/>
            </a:pPr>
            <a:r>
              <a:rPr lang="en-US" sz="1000" i="1" dirty="0">
                <a:solidFill>
                  <a:srgbClr val="A39E99"/>
                </a:solidFill>
                <a:latin typeface="Calibri" pitchFamily="34" charset="0"/>
                <a:ea typeface="Calibri" pitchFamily="34" charset="-122"/>
                <a:cs typeface="Calibri" pitchFamily="34" charset="-120"/>
              </a:rPr>
              <a:t>Surviving raises the level; the collapse plays behind the card.</a:t>
            </a:r>
            <a:endParaRPr lang="en-US" sz="1000" dirty="0"/>
          </a:p>
        </p:txBody>
      </p:sp>
      <p:sp>
        <p:nvSpPr>
          <p:cNvPr id="30" name="Text 26"/>
          <p:cNvSpPr txBox="1"/>
          <p:nvPr/>
        </p:nvSpPr>
        <p:spPr>
          <a:xfrm>
            <a:off x="457200" y="4434840"/>
            <a:ext cx="8229600" cy="457200"/>
          </a:xfrm>
          <a:prstGeom prst="rect">
            <a:avLst/>
          </a:prstGeom>
          <a:noFill/>
          <a:ln/>
        </p:spPr>
        <p:txBody>
          <a:bodyPr wrap="square" lIns="0" tIns="0" rIns="0" bIns="0" rtlCol="0" anchor="ctr"/>
          <a:lstStyle/>
          <a:p>
            <a:pPr indent="0" marL="0">
              <a:buNone/>
            </a:pPr>
            <a:r>
              <a:rPr lang="en-US" sz="1050" dirty="0">
                <a:solidFill>
                  <a:srgbClr val="EDE7E3"/>
                </a:solidFill>
                <a:latin typeface="Calibri" pitchFamily="34" charset="0"/>
                <a:ea typeface="Calibri" pitchFamily="34" charset="-122"/>
                <a:cs typeface="Calibri" pitchFamily="34" charset="-120"/>
              </a:rPr>
              <a:t>The first version put the player in front of a standing wall. Forty minutes later a one-line request (“rotate the play space”) turned it into the board tipping over, which needed per-instance rotation in the shader, a new coordinate mapping, and collision against the block grid.</a:t>
            </a:r>
            <a:endParaRPr lang="en-US" sz="1050" dirty="0"/>
          </a:p>
        </p:txBody>
      </p:sp>
      <p:sp>
        <p:nvSpPr>
          <p:cNvPr id="31" name="Text 27"/>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THE ROSTER</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What you fight, and what you fight with</a:t>
            </a:r>
            <a:endParaRPr lang="en-US" sz="3000" dirty="0"/>
          </a:p>
        </p:txBody>
      </p:sp>
      <p:sp>
        <p:nvSpPr>
          <p:cNvPr id="4" name="Text 2"/>
          <p:cNvSpPr txBox="1"/>
          <p:nvPr/>
        </p:nvSpPr>
        <p:spPr>
          <a:xfrm>
            <a:off x="457200" y="1005840"/>
            <a:ext cx="4572000" cy="256032"/>
          </a:xfrm>
          <a:prstGeom prst="rect">
            <a:avLst/>
          </a:prstGeom>
          <a:noFill/>
          <a:ln/>
        </p:spPr>
        <p:txBody>
          <a:bodyPr wrap="square" lIns="0" tIns="0" rIns="0" bIns="0" rtlCol="0" anchor="ctr"/>
          <a:lstStyle/>
          <a:p>
            <a:pPr indent="0" marL="0">
              <a:buNone/>
            </a:pPr>
            <a:r>
              <a:rPr lang="en-US" sz="1200" b="1" dirty="0">
                <a:solidFill>
                  <a:srgbClr val="F2C14E"/>
                </a:solidFill>
                <a:latin typeface="Arial" pitchFamily="34" charset="0"/>
                <a:ea typeface="Arial" pitchFamily="34" charset="-122"/>
                <a:cs typeface="Arial" pitchFamily="34" charset="-120"/>
              </a:rPr>
              <a:t>Monster classes by red-cluster size</a:t>
            </a:r>
            <a:endParaRPr lang="en-US" sz="1200" dirty="0"/>
          </a:p>
        </p:txBody>
      </p:sp>
      <p:sp>
        <p:nvSpPr>
          <p:cNvPr id="5" name="Text 3"/>
          <p:cNvSpPr txBox="1"/>
          <p:nvPr/>
        </p:nvSpPr>
        <p:spPr>
          <a:xfrm>
            <a:off x="3840480" y="1005840"/>
            <a:ext cx="4846320" cy="256032"/>
          </a:xfrm>
          <a:prstGeom prst="rect">
            <a:avLst/>
          </a:prstGeom>
          <a:noFill/>
          <a:ln/>
        </p:spPr>
        <p:txBody>
          <a:bodyPr wrap="square" lIns="0" tIns="0" rIns="0" bIns="0" rtlCol="0" anchor="ctr"/>
          <a:lstStyle/>
          <a:p>
            <a:pPr algn="r" indent="0" marL="0">
              <a:buNone/>
            </a:pPr>
            <a:r>
              <a:rPr lang="en-US" sz="900" dirty="0">
                <a:solidFill>
                  <a:srgbClr val="A39E99"/>
                </a:solidFill>
                <a:latin typeface="Calibri" pitchFamily="34" charset="0"/>
                <a:ea typeface="Calibri" pitchFamily="34" charset="-122"/>
                <a:cs typeface="Calibri" pitchFamily="34" charset="-120"/>
              </a:rPr>
              <a:t>HP scales with level (×0.45 at level 1 up to ×2.5); a level cap limits spawns; a monster left alive absorbs blocks and grows a class.</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1005840"/>
                <a:gridCol w="731520"/>
                <a:gridCol w="2194560"/>
                <a:gridCol w="1828800"/>
                <a:gridCol w="914400"/>
              </a:tblGrid>
              <a:tr h="228600">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Class</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Red cluster</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HP</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Attack</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Eats cover every</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Bounty</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Zombieman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hitscan pistol</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11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Imp</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fireball</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7.5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Demon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4–6</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charges, bites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5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Cacodemon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7–11</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flies, fast fireball</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3.5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Baron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12–17</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green fireball</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2.5 s, 3×3</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Cyberdemon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18–24</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2200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splash rockets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 s, 3×3</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2500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r>
              <a:tr h="228600">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Spider Mastermind</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2600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chaingun hitscan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1.5 s, 3×3</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bl>
          </a:graphicData>
        </a:graphic>
      </p:graphicFrame>
      <p:sp>
        <p:nvSpPr>
          <p:cNvPr id="7" name="Text 4"/>
          <p:cNvSpPr txBox="1"/>
          <p:nvPr/>
        </p:nvSpPr>
        <p:spPr>
          <a:xfrm>
            <a:off x="457200" y="3310128"/>
            <a:ext cx="1828800" cy="256032"/>
          </a:xfrm>
          <a:prstGeom prst="rect">
            <a:avLst/>
          </a:prstGeom>
          <a:noFill/>
          <a:ln/>
        </p:spPr>
        <p:txBody>
          <a:bodyPr wrap="square" lIns="0" tIns="0" rIns="0" bIns="0" rtlCol="0" anchor="ctr"/>
          <a:lstStyle/>
          <a:p>
            <a:pPr indent="0" marL="0">
              <a:buNone/>
            </a:pPr>
            <a:r>
              <a:rPr lang="en-US" sz="1200" b="1" dirty="0">
                <a:solidFill>
                  <a:srgbClr val="F2C14E"/>
                </a:solidFill>
                <a:latin typeface="Arial" pitchFamily="34" charset="0"/>
                <a:ea typeface="Arial" pitchFamily="34" charset="-122"/>
                <a:cs typeface="Arial" pitchFamily="34" charset="-120"/>
              </a:rPr>
              <a:t>Weapons</a:t>
            </a:r>
            <a:endParaRPr lang="en-US" sz="1200" dirty="0"/>
          </a:p>
        </p:txBody>
      </p:sp>
      <p:sp>
        <p:nvSpPr>
          <p:cNvPr id="8" name="Text 5"/>
          <p:cNvSpPr txBox="1"/>
          <p:nvPr/>
        </p:nvSpPr>
        <p:spPr>
          <a:xfrm>
            <a:off x="2286000" y="3310128"/>
            <a:ext cx="6400800" cy="256032"/>
          </a:xfrm>
          <a:prstGeom prst="rect">
            <a:avLst/>
          </a:prstGeom>
          <a:noFill/>
          <a:ln/>
        </p:spPr>
        <p:txBody>
          <a:bodyPr wrap="square" lIns="0" tIns="0" rIns="0" bIns="0" rtlCol="0" anchor="ctr"/>
          <a:lstStyle/>
          <a:p>
            <a:pPr algn="r" indent="0" marL="0">
              <a:buNone/>
            </a:pPr>
            <a:r>
              <a:rPr lang="en-US" sz="900" dirty="0">
                <a:solidFill>
                  <a:srgbClr val="A39E99"/>
                </a:solidFill>
                <a:latin typeface="Calibri" pitchFamily="34" charset="0"/>
                <a:ea typeface="Calibri" pitchFamily="34" charset="-122"/>
                <a:cs typeface="Calibri" pitchFamily="34" charset="-120"/>
              </a:rPr>
              <a:t>Kills drop health, ammo and weapons; bigger classes drop more. A hidden BFG9000 wipes all red once per game.</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584448"/>
          <a:ext cx="8229600" cy="914400"/>
        </p:xfrm>
        <a:graphic>
          <a:graphicData uri="http://schemas.openxmlformats.org/drawingml/2006/table">
            <a:tbl>
              <a:tblPr/>
              <a:tblGrid>
                <a:gridCol w="1554480"/>
                <a:gridCol w="822960"/>
                <a:gridCol w="822960"/>
                <a:gridCol w="1188720"/>
                <a:gridCol w="3840480"/>
              </a:tblGrid>
              <a:tr h="210312">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Weapon</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Damage</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Cycle</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Ammo / max</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c>
                  <a:txBody>
                    <a:bodyPr/>
                    <a:lstStyle/>
                    <a:p>
                      <a:pPr algn="l" indent="0" marL="0">
                        <a:buNone/>
                      </a:pPr>
                      <a:r>
                        <a:rPr lang="en-US" sz="950" b="1" dirty="0">
                          <a:solidFill>
                            <a:srgbClr val="F2C14E"/>
                          </a:solidFill>
                          <a:latin typeface="Arial" pitchFamily="34" charset="0"/>
                          <a:ea typeface="Arial" pitchFamily="34" charset="-122"/>
                          <a:cs typeface="Arial" pitchFamily="34" charset="-120"/>
                        </a:rPr>
                        <a:t>Notes</a:t>
                      </a:r>
                      <a:endParaRPr lang="en-US" sz="950" dirty="0">
                        <a:latin typeface="Arial" charset="0"/>
                        <a:ea typeface="Arial" charset="0"/>
                        <a:cs typeface="Arial"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221F28"/>
                    </a:solidFill>
                  </a:tcPr>
                </a:tc>
              </a:tr>
              <a:tr h="210312">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Shotgun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0.75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infinite</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×1.4 damage up close; always available</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r h="210312">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Chaingun</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0.10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60 / 200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fast hitscan with slight spread</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r>
              <a:tr h="210312">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Rocket launcher</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0.80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4 / 30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2.2 m splash that also blasts blocks (and you, if close)</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0B0A0F"/>
                    </a:solidFill>
                  </a:tcPr>
                </a:tc>
              </a:tr>
              <a:tr h="210312">
                <a:tc>
                  <a:txBody>
                    <a:bodyPr/>
                    <a:lstStyle/>
                    <a:p>
                      <a:pPr indent="0" marL="0">
                        <a:buNone/>
                      </a:pPr>
                      <a:r>
                        <a:rPr lang="en-US" sz="950" b="1" dirty="0">
                          <a:solidFill>
                            <a:srgbClr val="EDE7E3"/>
                          </a:solidFill>
                          <a:latin typeface="Calibri" pitchFamily="34" charset="0"/>
                          <a:ea typeface="Calibri" pitchFamily="34" charset="-122"/>
                          <a:cs typeface="Calibri" pitchFamily="34" charset="-120"/>
                        </a:rPr>
                        <a:t>Plasma rifle</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22</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0.12 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40 / 200</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c>
                  <a:txBody>
                    <a:bodyPr/>
                    <a:lstStyle/>
                    <a:p>
                      <a:pPr indent="0" marL="0">
                        <a:buNone/>
                      </a:pPr>
                      <a:r>
                        <a:rPr lang="en-US" sz="950" dirty="0">
                          <a:solidFill>
                            <a:srgbClr val="A39E99"/>
                          </a:solidFill>
                          <a:latin typeface="Calibri" pitchFamily="34" charset="0"/>
                          <a:ea typeface="Calibri" pitchFamily="34" charset="-122"/>
                          <a:cs typeface="Calibri" pitchFamily="34" charset="-120"/>
                        </a:rPr>
                        <a:t>bolts at 28 m/s</a:t>
                      </a:r>
                      <a:endParaRPr lang="en-US" sz="950" dirty="0">
                        <a:latin typeface="Calibri" charset="0"/>
                        <a:ea typeface="Calibri" charset="0"/>
                        <a:cs typeface="Calibri" charset="0"/>
                      </a:endParaRPr>
                    </a:p>
                  </a:txBody>
                  <a:tcPr marL="36576" marR="36576" marT="36576" marB="36576" anchor="ctr">
                    <a:lnL w="6350" cap="flat" cmpd="sng" algn="ctr">
                      <a:solidFill>
                        <a:srgbClr val="221F28"/>
                      </a:solidFill>
                      <a:prstDash val="solid"/>
                      <a:round/>
                      <a:headEnd type="none" w="med" len="med"/>
                      <a:tailEnd type="none" w="med" len="med"/>
                    </a:lnL>
                    <a:lnR w="6350" cap="flat" cmpd="sng" algn="ctr">
                      <a:solidFill>
                        <a:srgbClr val="221F28"/>
                      </a:solidFill>
                      <a:prstDash val="solid"/>
                      <a:round/>
                      <a:headEnd type="none" w="med" len="med"/>
                      <a:tailEnd type="none" w="med" len="med"/>
                    </a:lnR>
                    <a:lnT w="6350" cap="flat" cmpd="sng" algn="ctr">
                      <a:solidFill>
                        <a:srgbClr val="221F28"/>
                      </a:solidFill>
                      <a:prstDash val="solid"/>
                      <a:round/>
                      <a:headEnd type="none" w="med" len="med"/>
                      <a:tailEnd type="none" w="med" len="med"/>
                    </a:lnT>
                    <a:lnB w="6350" cap="flat" cmpd="sng" algn="ctr">
                      <a:solidFill>
                        <a:srgbClr val="221F28"/>
                      </a:solidFill>
                      <a:prstDash val="solid"/>
                      <a:round/>
                      <a:headEnd type="none" w="med" len="med"/>
                      <a:tailEnd type="none" w="med" len="med"/>
                    </a:lnB>
                    <a:solidFill>
                      <a:srgbClr val="17151C"/>
                    </a:solidFill>
                  </a:tcPr>
                </a:tc>
              </a:tr>
            </a:tbl>
          </a:graphicData>
        </a:graphic>
      </p:graphicFrame>
      <p:sp>
        <p:nvSpPr>
          <p:cNvPr id="10" name="Text 6"/>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5  ·  VERIFICATION</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Proof the machine can run by itself</a:t>
            </a:r>
            <a:endParaRPr lang="en-US" sz="3000" dirty="0"/>
          </a:p>
        </p:txBody>
      </p:sp>
      <p:sp>
        <p:nvSpPr>
          <p:cNvPr id="4" name="Text 2"/>
          <p:cNvSpPr txBox="1"/>
          <p:nvPr/>
        </p:nvSpPr>
        <p:spPr>
          <a:xfrm>
            <a:off x="457200" y="1143000"/>
            <a:ext cx="4206240" cy="3383280"/>
          </a:xfrm>
          <a:prstGeom prst="rect">
            <a:avLst/>
          </a:prstGeom>
          <a:noFill/>
          <a:ln/>
        </p:spPr>
        <p:txBody>
          <a:bodyPr wrap="square" lIns="0" tIns="0" rIns="0" bIns="0" rtlCol="0" anchor="t"/>
          <a:lstStyle/>
          <a:p>
            <a:pPr indent="0" marL="0">
              <a:buNone/>
            </a:pPr>
            <a:r>
              <a:rPr lang="en-US" sz="1400" b="1" dirty="0">
                <a:solidFill>
                  <a:srgbClr val="F2C14E"/>
                </a:solidFill>
                <a:latin typeface="Calibri" pitchFamily="34" charset="0"/>
                <a:ea typeface="Calibri" pitchFamily="34" charset="-122"/>
                <a:cs typeface="Calibri" pitchFamily="34" charset="-120"/>
              </a:rPr>
              <a:t>Built-in hooks made every feature checkable from a shell</a:t>
            </a:r>
            <a:endParaRPr lang="en-US" sz="1400" dirty="0"/>
          </a:p>
          <a:p>
            <a:pPr marL="342900" indent="-342900">
              <a:spcAft>
                <a:spcPts val="300"/>
              </a:spcAft>
              <a:buSzPct val="100000"/>
              <a:buChar char="•"/>
            </a:pPr>
            <a:r>
              <a:rPr lang="en-US" sz="1150" dirty="0">
                <a:solidFill>
                  <a:srgbClr val="EDE7E3"/>
                </a:solidFill>
                <a:latin typeface="Calibri" pitchFamily="34" charset="0"/>
                <a:ea typeface="Calibri" pitchFamily="34" charset="-122"/>
                <a:cs typeface="Calibri" pitchFamily="34" charset="-120"/>
              </a:rPr>
              <a:t>--scenario redline | fps | corrupt | prize  ·  hand-made boards</a:t>
            </a:r>
            <a:endParaRPr lang="en-US" sz="1400" dirty="0"/>
          </a:p>
          <a:p>
            <a:pPr marL="342900" indent="-342900">
              <a:spcAft>
                <a:spcPts val="300"/>
              </a:spcAft>
              <a:buSzPct val="100000"/>
              <a:buChar char="•"/>
            </a:pPr>
            <a:r>
              <a:rPr lang="en-US" sz="1150" dirty="0">
                <a:solidFill>
                  <a:srgbClr val="EDE7E3"/>
                </a:solidFill>
                <a:latin typeface="Calibri" pitchFamily="34" charset="0"/>
                <a:ea typeface="Calibri" pitchFamily="34" charset="-122"/>
                <a:cs typeface="Calibri" pitchFamily="34" charset="-120"/>
              </a:rPr>
              <a:t>--bot  ·  an auto-aiming player that finishes fights</a:t>
            </a:r>
            <a:endParaRPr lang="en-US" sz="1400" dirty="0"/>
          </a:p>
          <a:p>
            <a:pPr marL="342900" indent="-342900">
              <a:spcAft>
                <a:spcPts val="300"/>
              </a:spcAft>
              <a:buSzPct val="100000"/>
              <a:buChar char="•"/>
            </a:pPr>
            <a:r>
              <a:rPr lang="en-US" sz="1150" dirty="0">
                <a:solidFill>
                  <a:srgbClr val="EDE7E3"/>
                </a:solidFill>
                <a:latin typeface="Calibri" pitchFamily="34" charset="0"/>
                <a:ea typeface="Calibri" pitchFamily="34" charset="-122"/>
                <a:cs typeface="Calibri" pitchFamily="34" charset="-120"/>
              </a:rPr>
              <a:t>--frames N --screenshot x.png  ·  deterministic 60 Hz stepping</a:t>
            </a:r>
            <a:endParaRPr lang="en-US" sz="1400" dirty="0"/>
          </a:p>
          <a:p>
            <a:pPr marL="342900" indent="-342900">
              <a:spcAft>
                <a:spcPts val="300"/>
              </a:spcAft>
              <a:buSzPct val="100000"/>
              <a:buChar char="•"/>
            </a:pPr>
            <a:r>
              <a:rPr lang="en-US" sz="1150" dirty="0">
                <a:solidFill>
                  <a:srgbClr val="EDE7E3"/>
                </a:solidFill>
                <a:latin typeface="Calibri" pitchFamily="34" charset="0"/>
                <a:ea typeface="Calibri" pitchFamily="34" charset="-122"/>
                <a:cs typeface="Calibri" pitchFamily="34" charset="-120"/>
              </a:rPr>
              <a:t>--keys BFG@30x150  ·  scripted key presses and chords</a:t>
            </a:r>
            <a:endParaRPr lang="en-US" sz="1400" dirty="0"/>
          </a:p>
          <a:p>
            <a:pPr marL="342900" indent="-342900">
              <a:spcAft>
                <a:spcPts val="300"/>
              </a:spcAft>
              <a:buSzPct val="100000"/>
              <a:buChar char="•"/>
            </a:pPr>
            <a:r>
              <a:rPr lang="en-US" sz="1150" dirty="0">
                <a:solidFill>
                  <a:srgbClr val="EDE7E3"/>
                </a:solidFill>
                <a:latin typeface="Calibri" pitchFamily="34" charset="0"/>
                <a:ea typeface="Calibri" pitchFamily="34" charset="-122"/>
                <a:cs typeface="Calibri" pitchFamily="34" charset="-120"/>
              </a:rPr>
              <a:t>REDLINE_MUSIC_DUMP  ·  capture the audio mix to a WAV</a:t>
            </a:r>
            <a:endParaRPr lang="en-US" sz="1400" dirty="0"/>
          </a:p>
          <a:p>
            <a:pPr marL="342900" indent="-342900">
              <a:spcAft>
                <a:spcPts val="600"/>
              </a:spcAft>
              <a:buSzPct val="100000"/>
              <a:buChar char="•"/>
            </a:pPr>
            <a:r>
              <a:rPr lang="en-US" sz="1150" dirty="0">
                <a:solidFill>
                  <a:srgbClr val="EDE7E3"/>
                </a:solidFill>
                <a:latin typeface="Calibri" pitchFamily="34" charset="0"/>
                <a:ea typeface="Calibri" pitchFamily="34" charset="-122"/>
                <a:cs typeface="Calibri" pitchFamily="34" charset="-120"/>
              </a:rPr>
              <a:t>XDG_DATA_HOME  ·  isolate test save data from the real profile</a:t>
            </a:r>
            <a:endParaRPr lang="en-US" sz="1400" dirty="0"/>
          </a:p>
          <a:p>
            <a:pPr indent="0" marL="0">
              <a:buNone/>
            </a:pPr>
            <a:r>
              <a:rPr lang="en-US" sz="1150" dirty="0">
                <a:solidFill>
                  <a:srgbClr val="A39E99"/>
                </a:solidFill>
                <a:latin typeface="Calibri" pitchFamily="34" charset="0"/>
                <a:ea typeface="Calibri" pitchFamily="34" charset="-122"/>
                <a:cs typeface="Calibri" pitchFamily="34" charset="-120"/>
              </a:rPr>
              <a:t>Every claim in the session's reports traced back to one of these runs: a log line, a screenshot the AI looked at, or a rendered WAV.</a:t>
            </a:r>
            <a:endParaRPr lang="en-US" sz="1400" dirty="0"/>
          </a:p>
        </p:txBody>
      </p:sp>
      <p:sp>
        <p:nvSpPr>
          <p:cNvPr id="5" name="Shape 3"/>
          <p:cNvSpPr/>
          <p:nvPr/>
        </p:nvSpPr>
        <p:spPr>
          <a:xfrm>
            <a:off x="4937760" y="1143000"/>
            <a:ext cx="3749040" cy="3383280"/>
          </a:xfrm>
          <a:prstGeom prst="roundRect">
            <a:avLst>
              <a:gd name="adj" fmla="val 2703"/>
            </a:avLst>
          </a:prstGeom>
          <a:solidFill>
            <a:srgbClr val="060608"/>
          </a:solidFill>
          <a:ln w="12700">
            <a:solidFill>
              <a:srgbClr val="221F28"/>
            </a:solidFill>
            <a:prstDash val="solid"/>
          </a:ln>
        </p:spPr>
      </p:sp>
      <p:sp>
        <p:nvSpPr>
          <p:cNvPr id="6" name="Text 4"/>
          <p:cNvSpPr txBox="1"/>
          <p:nvPr/>
        </p:nvSpPr>
        <p:spPr>
          <a:xfrm>
            <a:off x="5120640" y="1280160"/>
            <a:ext cx="3474720" cy="274320"/>
          </a:xfrm>
          <a:prstGeom prst="rect">
            <a:avLst/>
          </a:prstGeom>
          <a:noFill/>
          <a:ln/>
        </p:spPr>
        <p:txBody>
          <a:bodyPr wrap="square" lIns="0" tIns="0" rIns="0" bIns="0" rtlCol="0" anchor="ctr"/>
          <a:lstStyle/>
          <a:p>
            <a:pPr indent="0" marL="0">
              <a:buNone/>
            </a:pPr>
            <a:r>
              <a:rPr lang="en-US" sz="950" dirty="0">
                <a:solidFill>
                  <a:srgbClr val="F2C14E"/>
                </a:solidFill>
                <a:latin typeface="Courier New" pitchFamily="34" charset="0"/>
                <a:ea typeface="Courier New" pitchFamily="34" charset="-122"/>
                <a:cs typeface="Courier New" pitchFamily="34" charset="-120"/>
              </a:rPr>
              <a:t>$ redline --scenario redline --bot --frames 3000</a:t>
            </a:r>
            <a:endParaRPr lang="en-US" sz="950" dirty="0"/>
          </a:p>
        </p:txBody>
      </p:sp>
      <p:sp>
        <p:nvSpPr>
          <p:cNvPr id="7" name="Text 5"/>
          <p:cNvSpPr txBox="1"/>
          <p:nvPr/>
        </p:nvSpPr>
        <p:spPr>
          <a:xfrm>
            <a:off x="5120640" y="1600200"/>
            <a:ext cx="3474720" cy="2834640"/>
          </a:xfrm>
          <a:prstGeom prst="rect">
            <a:avLst/>
          </a:prstGeom>
          <a:noFill/>
          <a:ln/>
        </p:spPr>
        <p:txBody>
          <a:bodyPr wrap="square" lIns="0" tIns="0" rIns="0" bIns="0" rtlCol="0" anchor="t"/>
          <a:lstStyle/>
          <a:p>
            <a:pPr indent="0" marL="0">
              <a:spcAft>
                <a:spcPts val="200"/>
              </a:spcAft>
              <a:buNone/>
            </a:pPr>
            <a:r>
              <a:rPr lang="en-US" sz="950" dirty="0">
                <a:solidFill>
                  <a:srgbClr val="EDE7E3"/>
                </a:solidFill>
                <a:latin typeface="Courier New" pitchFamily="34" charset="0"/>
                <a:ea typeface="Courier New" pitchFamily="34" charset="-122"/>
                <a:cs typeface="Courier New" pitchFamily="34" charset="-120"/>
              </a:rPr>
              <a:t>[app] mode Blocks -&gt; Alert (frame 0, score 32)</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mode Alert -&gt; FlyIn (frame 85)</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mode FlyIn -&gt; Countdown (frame 218)</a:t>
            </a:r>
            <a:endParaRPr lang="en-US" sz="950" dirty="0"/>
          </a:p>
          <a:p>
            <a:pPr indent="0" marL="0">
              <a:spcAft>
                <a:spcPts val="200"/>
              </a:spcAft>
              <a:buNone/>
            </a:pPr>
            <a:r>
              <a:rPr lang="en-US" sz="950" dirty="0">
                <a:solidFill>
                  <a:srgbClr val="EDE7E3"/>
                </a:solidFill>
                <a:latin typeface="Courier New" pitchFamily="34" charset="0"/>
                <a:ea typeface="Courier New" pitchFamily="34" charset="-122"/>
                <a:cs typeface="Courier New" pitchFamily="34" charset="-120"/>
              </a:rPr>
              <a:t>[fps] level 1 roster: DEMON(4), IMP(3),</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      DEMON(6), DEMON(5), IMP(3), ZOMBIE(1)</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mode Countdown -&gt; Fps (frame 399)</a:t>
            </a:r>
            <a:endParaRPr lang="en-US" sz="950" dirty="0"/>
          </a:p>
          <a:p>
            <a:pPr indent="0" marL="0">
              <a:spcAft>
                <a:spcPts val="200"/>
              </a:spcAft>
              <a:buNone/>
            </a:pPr>
            <a:r>
              <a:rPr lang="en-US" sz="950" dirty="0">
                <a:solidFill>
                  <a:srgbClr val="EDE7E3"/>
                </a:solidFill>
                <a:latin typeface="Courier New" pitchFamily="34" charset="0"/>
                <a:ea typeface="Courier New" pitchFamily="34" charset="-122"/>
                <a:cs typeface="Courier New" pitchFamily="34" charset="-120"/>
              </a:rPr>
              <a:t>[fps] pickup rocket launcher (health 86)</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[fps] rocket blast destroyed 1 blocks</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trophy unlocked: FIRST BLOOD</a:t>
            </a:r>
            <a:endParaRPr lang="en-US" sz="950" dirty="0"/>
          </a:p>
          <a:p>
            <a:pPr indent="0" marL="0">
              <a:spcAft>
                <a:spcPts val="200"/>
              </a:spcAft>
              <a:buNone/>
            </a:pPr>
            <a:r>
              <a:rPr lang="en-US" sz="950" dirty="0">
                <a:solidFill>
                  <a:srgbClr val="EDE7E3"/>
                </a:solidFill>
                <a:latin typeface="Courier New" pitchFamily="34" charset="0"/>
                <a:ea typeface="Courier New" pitchFamily="34" charset="-122"/>
                <a:cs typeface="Courier New" pitchFamily="34" charset="-120"/>
              </a:rPr>
              <a:t>[app] mode Fps -&gt; FlyOut (frame 1183)</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mode FlyOut -&gt; Blocks (frame 1268)</a:t>
            </a:r>
            <a:endParaRPr lang="en-US" sz="950" dirty="0"/>
          </a:p>
          <a:p>
            <a:pPr indent="0" marL="0">
              <a:spcAft>
                <a:spcPts val="200"/>
              </a:spcAft>
              <a:buNone/>
            </a:pPr>
            <a:r>
              <a:rPr lang="en-US" sz="950" dirty="0">
                <a:solidFill>
                  <a:srgbClr val="A39E99"/>
                </a:solidFill>
                <a:latin typeface="Courier New" pitchFamily="34" charset="0"/>
                <a:ea typeface="Courier New" pitchFamily="34" charset="-122"/>
                <a:cs typeface="Courier New" pitchFamily="34" charset="-120"/>
              </a:rPr>
              <a:t>[app] trophy unlocked: RED LINE</a:t>
            </a:r>
            <a:endParaRPr lang="en-US" sz="950" dirty="0"/>
          </a:p>
        </p:txBody>
      </p:sp>
      <p:sp>
        <p:nvSpPr>
          <p:cNvPr id="8" name="Text 6"/>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STEP 6  ·  ITERATING ON FEEDBACK</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Twenty-two commits, one conversation</a:t>
            </a:r>
            <a:endParaRPr lang="en-US" sz="3000" dirty="0"/>
          </a:p>
        </p:txBody>
      </p:sp>
      <p:sp>
        <p:nvSpPr>
          <p:cNvPr id="4" name="Shape 2"/>
          <p:cNvSpPr/>
          <p:nvPr/>
        </p:nvSpPr>
        <p:spPr>
          <a:xfrm>
            <a:off x="640080" y="2331720"/>
            <a:ext cx="7863840" cy="0"/>
          </a:xfrm>
          <a:prstGeom prst="line">
            <a:avLst/>
          </a:prstGeom>
          <a:noFill/>
          <a:ln w="38100">
            <a:solidFill>
              <a:srgbClr val="8C1711"/>
            </a:solidFill>
            <a:prstDash val="solid"/>
          </a:ln>
        </p:spPr>
      </p:sp>
      <p:sp>
        <p:nvSpPr>
          <p:cNvPr id="5" name="Shape 3"/>
          <p:cNvSpPr/>
          <p:nvPr/>
        </p:nvSpPr>
        <p:spPr>
          <a:xfrm>
            <a:off x="557784" y="2249424"/>
            <a:ext cx="164592" cy="164592"/>
          </a:xfrm>
          <a:prstGeom prst="ellipse">
            <a:avLst/>
          </a:prstGeom>
          <a:solidFill>
            <a:srgbClr val="F2C14E"/>
          </a:solidFill>
          <a:ln w="12700">
            <a:solidFill>
              <a:srgbClr val="0B0A0F"/>
            </a:solidFill>
            <a:prstDash val="solid"/>
          </a:ln>
        </p:spPr>
      </p:sp>
      <p:sp>
        <p:nvSpPr>
          <p:cNvPr id="6" name="Text 4"/>
          <p:cNvSpPr txBox="1"/>
          <p:nvPr/>
        </p:nvSpPr>
        <p:spPr>
          <a:xfrm>
            <a:off x="182880" y="18288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12:56</a:t>
            </a:r>
            <a:endParaRPr lang="en-US" sz="1000" dirty="0"/>
          </a:p>
        </p:txBody>
      </p:sp>
      <p:sp>
        <p:nvSpPr>
          <p:cNvPr id="7" name="Text 5"/>
          <p:cNvSpPr txBox="1"/>
          <p:nvPr/>
        </p:nvSpPr>
        <p:spPr>
          <a:xfrm>
            <a:off x="73152" y="960120"/>
            <a:ext cx="1133856" cy="868680"/>
          </a:xfrm>
          <a:prstGeom prst="rect">
            <a:avLst/>
          </a:prstGeom>
          <a:noFill/>
          <a:ln/>
        </p:spPr>
        <p:txBody>
          <a:bodyPr wrap="square" lIns="0" tIns="0" rIns="0" bIns="0" rtlCol="0" anchor="b"/>
          <a:lstStyle/>
          <a:p>
            <a:pPr algn="ctr" indent="0" marL="0">
              <a:buNone/>
            </a:pPr>
            <a:r>
              <a:rPr lang="en-US" sz="950" dirty="0">
                <a:solidFill>
                  <a:srgbClr val="EDE7E3"/>
                </a:solidFill>
                <a:latin typeface="Calibri" pitchFamily="34" charset="0"/>
                <a:ea typeface="Calibri" pitchFamily="34" charset="-122"/>
                <a:cs typeface="Calibri" pitchFamily="34" charset="-120"/>
              </a:rPr>
              <a:t>First playable loop</a:t>
            </a:r>
            <a:endParaRPr lang="en-US" sz="950" dirty="0"/>
          </a:p>
        </p:txBody>
      </p:sp>
      <p:sp>
        <p:nvSpPr>
          <p:cNvPr id="8" name="Shape 6"/>
          <p:cNvSpPr/>
          <p:nvPr/>
        </p:nvSpPr>
        <p:spPr>
          <a:xfrm>
            <a:off x="1431544" y="2249424"/>
            <a:ext cx="164592" cy="164592"/>
          </a:xfrm>
          <a:prstGeom prst="ellipse">
            <a:avLst/>
          </a:prstGeom>
          <a:solidFill>
            <a:srgbClr val="F2C14E"/>
          </a:solidFill>
          <a:ln w="12700">
            <a:solidFill>
              <a:srgbClr val="0B0A0F"/>
            </a:solidFill>
            <a:prstDash val="solid"/>
          </a:ln>
        </p:spPr>
      </p:sp>
      <p:sp>
        <p:nvSpPr>
          <p:cNvPr id="9" name="Text 7"/>
          <p:cNvSpPr txBox="1"/>
          <p:nvPr/>
        </p:nvSpPr>
        <p:spPr>
          <a:xfrm>
            <a:off x="1056640" y="25146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13:37</a:t>
            </a:r>
            <a:endParaRPr lang="en-US" sz="1000" dirty="0"/>
          </a:p>
        </p:txBody>
      </p:sp>
      <p:sp>
        <p:nvSpPr>
          <p:cNvPr id="10" name="Text 8"/>
          <p:cNvSpPr txBox="1"/>
          <p:nvPr/>
        </p:nvSpPr>
        <p:spPr>
          <a:xfrm>
            <a:off x="946912" y="2743200"/>
            <a:ext cx="1133856" cy="868680"/>
          </a:xfrm>
          <a:prstGeom prst="rect">
            <a:avLst/>
          </a:prstGeom>
          <a:noFill/>
          <a:ln/>
        </p:spPr>
        <p:txBody>
          <a:bodyPr wrap="square" lIns="0" tIns="0" rIns="0" bIns="0" rtlCol="0" anchor="t"/>
          <a:lstStyle/>
          <a:p>
            <a:pPr algn="ctr" indent="0" marL="0">
              <a:buNone/>
            </a:pPr>
            <a:r>
              <a:rPr lang="en-US" sz="950" dirty="0">
                <a:solidFill>
                  <a:srgbClr val="EDE7E3"/>
                </a:solidFill>
                <a:latin typeface="Calibri" pitchFamily="34" charset="0"/>
                <a:ea typeface="Calibri" pitchFamily="34" charset="-122"/>
                <a:cs typeface="Calibri" pitchFamily="34" charset="-120"/>
              </a:rPr>
              <a:t>Board tips over; monster tiers; menus</a:t>
            </a:r>
            <a:endParaRPr lang="en-US" sz="950" dirty="0"/>
          </a:p>
        </p:txBody>
      </p:sp>
      <p:sp>
        <p:nvSpPr>
          <p:cNvPr id="11" name="Shape 9"/>
          <p:cNvSpPr/>
          <p:nvPr/>
        </p:nvSpPr>
        <p:spPr>
          <a:xfrm>
            <a:off x="2305304" y="2249424"/>
            <a:ext cx="164592" cy="164592"/>
          </a:xfrm>
          <a:prstGeom prst="ellipse">
            <a:avLst/>
          </a:prstGeom>
          <a:solidFill>
            <a:srgbClr val="F2C14E"/>
          </a:solidFill>
          <a:ln w="12700">
            <a:solidFill>
              <a:srgbClr val="0B0A0F"/>
            </a:solidFill>
            <a:prstDash val="solid"/>
          </a:ln>
        </p:spPr>
      </p:sp>
      <p:sp>
        <p:nvSpPr>
          <p:cNvPr id="12" name="Text 10"/>
          <p:cNvSpPr txBox="1"/>
          <p:nvPr/>
        </p:nvSpPr>
        <p:spPr>
          <a:xfrm>
            <a:off x="1930400" y="18288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13:51</a:t>
            </a:r>
            <a:endParaRPr lang="en-US" sz="1000" dirty="0"/>
          </a:p>
        </p:txBody>
      </p:sp>
      <p:sp>
        <p:nvSpPr>
          <p:cNvPr id="13" name="Text 11"/>
          <p:cNvSpPr txBox="1"/>
          <p:nvPr/>
        </p:nvSpPr>
        <p:spPr>
          <a:xfrm>
            <a:off x="1820672" y="960120"/>
            <a:ext cx="1133856" cy="868680"/>
          </a:xfrm>
          <a:prstGeom prst="rect">
            <a:avLst/>
          </a:prstGeom>
          <a:noFill/>
          <a:ln/>
        </p:spPr>
        <p:txBody>
          <a:bodyPr wrap="square" lIns="0" tIns="0" rIns="0" bIns="0" rtlCol="0" anchor="b"/>
          <a:lstStyle/>
          <a:p>
            <a:pPr algn="ctr" indent="0" marL="0">
              <a:buNone/>
            </a:pPr>
            <a:r>
              <a:rPr lang="en-US" sz="950" dirty="0">
                <a:solidFill>
                  <a:srgbClr val="EDE7E3"/>
                </a:solidFill>
                <a:latin typeface="Calibri" pitchFamily="34" charset="0"/>
                <a:ea typeface="Calibri" pitchFamily="34" charset="-122"/>
                <a:cs typeface="Calibri" pitchFamily="34" charset="-120"/>
              </a:rPr>
              <a:t>Loot drops, four weapons</a:t>
            </a:r>
            <a:endParaRPr lang="en-US" sz="950" dirty="0"/>
          </a:p>
        </p:txBody>
      </p:sp>
      <p:sp>
        <p:nvSpPr>
          <p:cNvPr id="14" name="Shape 12"/>
          <p:cNvSpPr/>
          <p:nvPr/>
        </p:nvSpPr>
        <p:spPr>
          <a:xfrm>
            <a:off x="3179064" y="2249424"/>
            <a:ext cx="164592" cy="164592"/>
          </a:xfrm>
          <a:prstGeom prst="ellipse">
            <a:avLst/>
          </a:prstGeom>
          <a:solidFill>
            <a:srgbClr val="F2C14E"/>
          </a:solidFill>
          <a:ln w="12700">
            <a:solidFill>
              <a:srgbClr val="0B0A0F"/>
            </a:solidFill>
            <a:prstDash val="solid"/>
          </a:ln>
        </p:spPr>
      </p:sp>
      <p:sp>
        <p:nvSpPr>
          <p:cNvPr id="15" name="Text 13"/>
          <p:cNvSpPr txBox="1"/>
          <p:nvPr/>
        </p:nvSpPr>
        <p:spPr>
          <a:xfrm>
            <a:off x="2804160" y="25146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14:57</a:t>
            </a:r>
            <a:endParaRPr lang="en-US" sz="1000" dirty="0"/>
          </a:p>
        </p:txBody>
      </p:sp>
      <p:sp>
        <p:nvSpPr>
          <p:cNvPr id="16" name="Text 14"/>
          <p:cNvSpPr txBox="1"/>
          <p:nvPr/>
        </p:nvSpPr>
        <p:spPr>
          <a:xfrm>
            <a:off x="2694432" y="2743200"/>
            <a:ext cx="1133856" cy="868680"/>
          </a:xfrm>
          <a:prstGeom prst="rect">
            <a:avLst/>
          </a:prstGeom>
          <a:noFill/>
          <a:ln/>
        </p:spPr>
        <p:txBody>
          <a:bodyPr wrap="square" lIns="0" tIns="0" rIns="0" bIns="0" rtlCol="0" anchor="t"/>
          <a:lstStyle/>
          <a:p>
            <a:pPr algn="ctr" indent="0" marL="0">
              <a:buNone/>
            </a:pPr>
            <a:r>
              <a:rPr lang="en-US" sz="950" dirty="0">
                <a:solidFill>
                  <a:srgbClr val="EDE7E3"/>
                </a:solidFill>
                <a:latin typeface="Calibri" pitchFamily="34" charset="0"/>
                <a:ea typeface="Calibri" pitchFamily="34" charset="-122"/>
                <a:cs typeface="Calibri" pitchFamily="34" charset="-120"/>
              </a:rPr>
              <a:t>Countdown, cover erosion, absorb-and-grow</a:t>
            </a:r>
            <a:endParaRPr lang="en-US" sz="950" dirty="0"/>
          </a:p>
        </p:txBody>
      </p:sp>
      <p:sp>
        <p:nvSpPr>
          <p:cNvPr id="17" name="Shape 15"/>
          <p:cNvSpPr/>
          <p:nvPr/>
        </p:nvSpPr>
        <p:spPr>
          <a:xfrm>
            <a:off x="4052824" y="2249424"/>
            <a:ext cx="164592" cy="164592"/>
          </a:xfrm>
          <a:prstGeom prst="ellipse">
            <a:avLst/>
          </a:prstGeom>
          <a:solidFill>
            <a:srgbClr val="F2C14E"/>
          </a:solidFill>
          <a:ln w="12700">
            <a:solidFill>
              <a:srgbClr val="0B0A0F"/>
            </a:solidFill>
            <a:prstDash val="solid"/>
          </a:ln>
        </p:spPr>
      </p:sp>
      <p:sp>
        <p:nvSpPr>
          <p:cNvPr id="18" name="Text 16"/>
          <p:cNvSpPr txBox="1"/>
          <p:nvPr/>
        </p:nvSpPr>
        <p:spPr>
          <a:xfrm>
            <a:off x="3677920" y="18288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15:29</a:t>
            </a:r>
            <a:endParaRPr lang="en-US" sz="1000" dirty="0"/>
          </a:p>
        </p:txBody>
      </p:sp>
      <p:sp>
        <p:nvSpPr>
          <p:cNvPr id="19" name="Text 17"/>
          <p:cNvSpPr txBox="1"/>
          <p:nvPr/>
        </p:nvSpPr>
        <p:spPr>
          <a:xfrm>
            <a:off x="3568192" y="960120"/>
            <a:ext cx="1133856" cy="868680"/>
          </a:xfrm>
          <a:prstGeom prst="rect">
            <a:avLst/>
          </a:prstGeom>
          <a:noFill/>
          <a:ln/>
        </p:spPr>
        <p:txBody>
          <a:bodyPr wrap="square" lIns="0" tIns="0" rIns="0" bIns="0" rtlCol="0" anchor="b"/>
          <a:lstStyle/>
          <a:p>
            <a:pPr algn="ctr" indent="0" marL="0">
              <a:buNone/>
            </a:pPr>
            <a:r>
              <a:rPr lang="en-US" sz="950" dirty="0">
                <a:solidFill>
                  <a:srgbClr val="EDE7E3"/>
                </a:solidFill>
                <a:latin typeface="Calibri" pitchFamily="34" charset="0"/>
                <a:ea typeface="Calibri" pitchFamily="34" charset="-122"/>
                <a:cs typeface="Calibri" pitchFamily="34" charset="-120"/>
              </a:rPr>
              <a:t>Corruption, combo scoring</a:t>
            </a:r>
            <a:endParaRPr lang="en-US" sz="950" dirty="0"/>
          </a:p>
        </p:txBody>
      </p:sp>
      <p:sp>
        <p:nvSpPr>
          <p:cNvPr id="20" name="Shape 18"/>
          <p:cNvSpPr/>
          <p:nvPr/>
        </p:nvSpPr>
        <p:spPr>
          <a:xfrm>
            <a:off x="4926584" y="2249424"/>
            <a:ext cx="164592" cy="164592"/>
          </a:xfrm>
          <a:prstGeom prst="ellipse">
            <a:avLst/>
          </a:prstGeom>
          <a:solidFill>
            <a:srgbClr val="F2C14E"/>
          </a:solidFill>
          <a:ln w="12700">
            <a:solidFill>
              <a:srgbClr val="0B0A0F"/>
            </a:solidFill>
            <a:prstDash val="solid"/>
          </a:ln>
        </p:spPr>
      </p:sp>
      <p:sp>
        <p:nvSpPr>
          <p:cNvPr id="21" name="Text 19"/>
          <p:cNvSpPr txBox="1"/>
          <p:nvPr/>
        </p:nvSpPr>
        <p:spPr>
          <a:xfrm>
            <a:off x="4551680" y="25146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16:08</a:t>
            </a:r>
            <a:endParaRPr lang="en-US" sz="1000" dirty="0"/>
          </a:p>
        </p:txBody>
      </p:sp>
      <p:sp>
        <p:nvSpPr>
          <p:cNvPr id="22" name="Text 20"/>
          <p:cNvSpPr txBox="1"/>
          <p:nvPr/>
        </p:nvSpPr>
        <p:spPr>
          <a:xfrm>
            <a:off x="4441952" y="2743200"/>
            <a:ext cx="1133856" cy="868680"/>
          </a:xfrm>
          <a:prstGeom prst="rect">
            <a:avLst/>
          </a:prstGeom>
          <a:noFill/>
          <a:ln/>
        </p:spPr>
        <p:txBody>
          <a:bodyPr wrap="square" lIns="0" tIns="0" rIns="0" bIns="0" rtlCol="0" anchor="t"/>
          <a:lstStyle/>
          <a:p>
            <a:pPr algn="ctr" indent="0" marL="0">
              <a:buNone/>
            </a:pPr>
            <a:r>
              <a:rPr lang="en-US" sz="950" dirty="0">
                <a:solidFill>
                  <a:srgbClr val="EDE7E3"/>
                </a:solidFill>
                <a:latin typeface="Calibri" pitchFamily="34" charset="0"/>
                <a:ea typeface="Calibri" pitchFamily="34" charset="-122"/>
                <a:cs typeface="Calibri" pitchFamily="34" charset="-120"/>
              </a:rPr>
              <a:t>Level caps, region splitting</a:t>
            </a:r>
            <a:endParaRPr lang="en-US" sz="950" dirty="0"/>
          </a:p>
        </p:txBody>
      </p:sp>
      <p:sp>
        <p:nvSpPr>
          <p:cNvPr id="23" name="Shape 21"/>
          <p:cNvSpPr/>
          <p:nvPr/>
        </p:nvSpPr>
        <p:spPr>
          <a:xfrm>
            <a:off x="5800344" y="2249424"/>
            <a:ext cx="164592" cy="164592"/>
          </a:xfrm>
          <a:prstGeom prst="ellipse">
            <a:avLst/>
          </a:prstGeom>
          <a:solidFill>
            <a:srgbClr val="F2C14E"/>
          </a:solidFill>
          <a:ln w="12700">
            <a:solidFill>
              <a:srgbClr val="0B0A0F"/>
            </a:solidFill>
            <a:prstDash val="solid"/>
          </a:ln>
        </p:spPr>
      </p:sp>
      <p:sp>
        <p:nvSpPr>
          <p:cNvPr id="24" name="Text 22"/>
          <p:cNvSpPr txBox="1"/>
          <p:nvPr/>
        </p:nvSpPr>
        <p:spPr>
          <a:xfrm>
            <a:off x="5425440" y="18288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17:24</a:t>
            </a:r>
            <a:endParaRPr lang="en-US" sz="1000" dirty="0"/>
          </a:p>
        </p:txBody>
      </p:sp>
      <p:sp>
        <p:nvSpPr>
          <p:cNvPr id="25" name="Text 23"/>
          <p:cNvSpPr txBox="1"/>
          <p:nvPr/>
        </p:nvSpPr>
        <p:spPr>
          <a:xfrm>
            <a:off x="5315712" y="960120"/>
            <a:ext cx="1133856" cy="868680"/>
          </a:xfrm>
          <a:prstGeom prst="rect">
            <a:avLst/>
          </a:prstGeom>
          <a:noFill/>
          <a:ln/>
        </p:spPr>
        <p:txBody>
          <a:bodyPr wrap="square" lIns="0" tIns="0" rIns="0" bIns="0" rtlCol="0" anchor="b"/>
          <a:lstStyle/>
          <a:p>
            <a:pPr algn="ctr" indent="0" marL="0">
              <a:buNone/>
            </a:pPr>
            <a:r>
              <a:rPr lang="en-US" sz="950" dirty="0">
                <a:solidFill>
                  <a:srgbClr val="EDE7E3"/>
                </a:solidFill>
                <a:latin typeface="Calibri" pitchFamily="34" charset="0"/>
                <a:ea typeface="Calibri" pitchFamily="34" charset="-122"/>
                <a:cs typeface="Calibri" pitchFamily="34" charset="-120"/>
              </a:rPr>
              <a:t>Panic mode, hidden BFG</a:t>
            </a:r>
            <a:endParaRPr lang="en-US" sz="950" dirty="0"/>
          </a:p>
        </p:txBody>
      </p:sp>
      <p:sp>
        <p:nvSpPr>
          <p:cNvPr id="26" name="Shape 24"/>
          <p:cNvSpPr/>
          <p:nvPr/>
        </p:nvSpPr>
        <p:spPr>
          <a:xfrm>
            <a:off x="6674104" y="2249424"/>
            <a:ext cx="164592" cy="164592"/>
          </a:xfrm>
          <a:prstGeom prst="ellipse">
            <a:avLst/>
          </a:prstGeom>
          <a:solidFill>
            <a:srgbClr val="F2C14E"/>
          </a:solidFill>
          <a:ln w="12700">
            <a:solidFill>
              <a:srgbClr val="0B0A0F"/>
            </a:solidFill>
            <a:prstDash val="solid"/>
          </a:ln>
        </p:spPr>
      </p:sp>
      <p:sp>
        <p:nvSpPr>
          <p:cNvPr id="27" name="Text 25"/>
          <p:cNvSpPr txBox="1"/>
          <p:nvPr/>
        </p:nvSpPr>
        <p:spPr>
          <a:xfrm>
            <a:off x="6299200" y="25146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18:30</a:t>
            </a:r>
            <a:endParaRPr lang="en-US" sz="1000" dirty="0"/>
          </a:p>
        </p:txBody>
      </p:sp>
      <p:sp>
        <p:nvSpPr>
          <p:cNvPr id="28" name="Text 26"/>
          <p:cNvSpPr txBox="1"/>
          <p:nvPr/>
        </p:nvSpPr>
        <p:spPr>
          <a:xfrm>
            <a:off x="6189472" y="2743200"/>
            <a:ext cx="1133856" cy="868680"/>
          </a:xfrm>
          <a:prstGeom prst="rect">
            <a:avLst/>
          </a:prstGeom>
          <a:noFill/>
          <a:ln/>
        </p:spPr>
        <p:txBody>
          <a:bodyPr wrap="square" lIns="0" tIns="0" rIns="0" bIns="0" rtlCol="0" anchor="t"/>
          <a:lstStyle/>
          <a:p>
            <a:pPr algn="ctr" indent="0" marL="0">
              <a:buNone/>
            </a:pPr>
            <a:r>
              <a:rPr lang="en-US" sz="950" dirty="0">
                <a:solidFill>
                  <a:srgbClr val="EDE7E3"/>
                </a:solidFill>
                <a:latin typeface="Calibri" pitchFamily="34" charset="0"/>
                <a:ea typeface="Calibri" pitchFamily="34" charset="-122"/>
                <a:cs typeface="Calibri" pitchFamily="34" charset="-120"/>
              </a:rPr>
              <a:t>OPL3 music, high scores</a:t>
            </a:r>
            <a:endParaRPr lang="en-US" sz="950" dirty="0"/>
          </a:p>
        </p:txBody>
      </p:sp>
      <p:sp>
        <p:nvSpPr>
          <p:cNvPr id="29" name="Shape 27"/>
          <p:cNvSpPr/>
          <p:nvPr/>
        </p:nvSpPr>
        <p:spPr>
          <a:xfrm>
            <a:off x="7547864" y="2249424"/>
            <a:ext cx="164592" cy="164592"/>
          </a:xfrm>
          <a:prstGeom prst="ellipse">
            <a:avLst/>
          </a:prstGeom>
          <a:solidFill>
            <a:srgbClr val="F2C14E"/>
          </a:solidFill>
          <a:ln w="12700">
            <a:solidFill>
              <a:srgbClr val="0B0A0F"/>
            </a:solidFill>
            <a:prstDash val="solid"/>
          </a:ln>
        </p:spPr>
      </p:sp>
      <p:sp>
        <p:nvSpPr>
          <p:cNvPr id="30" name="Text 28"/>
          <p:cNvSpPr txBox="1"/>
          <p:nvPr/>
        </p:nvSpPr>
        <p:spPr>
          <a:xfrm>
            <a:off x="7172960" y="18288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19:15</a:t>
            </a:r>
            <a:endParaRPr lang="en-US" sz="1000" dirty="0"/>
          </a:p>
        </p:txBody>
      </p:sp>
      <p:sp>
        <p:nvSpPr>
          <p:cNvPr id="31" name="Text 29"/>
          <p:cNvSpPr txBox="1"/>
          <p:nvPr/>
        </p:nvSpPr>
        <p:spPr>
          <a:xfrm>
            <a:off x="7063232" y="960120"/>
            <a:ext cx="1133856" cy="868680"/>
          </a:xfrm>
          <a:prstGeom prst="rect">
            <a:avLst/>
          </a:prstGeom>
          <a:noFill/>
          <a:ln/>
        </p:spPr>
        <p:txBody>
          <a:bodyPr wrap="square" lIns="0" tIns="0" rIns="0" bIns="0" rtlCol="0" anchor="b"/>
          <a:lstStyle/>
          <a:p>
            <a:pPr algn="ctr" indent="0" marL="0">
              <a:buNone/>
            </a:pPr>
            <a:r>
              <a:rPr lang="en-US" sz="950" dirty="0">
                <a:solidFill>
                  <a:srgbClr val="EDE7E3"/>
                </a:solidFill>
                <a:latin typeface="Calibri" pitchFamily="34" charset="0"/>
                <a:ea typeface="Calibri" pitchFamily="34" charset="-122"/>
                <a:cs typeface="Calibri" pitchFamily="34" charset="-120"/>
              </a:rPr>
              <a:t>Gamepad, profiles, trophies</a:t>
            </a:r>
            <a:endParaRPr lang="en-US" sz="950" dirty="0"/>
          </a:p>
        </p:txBody>
      </p:sp>
      <p:sp>
        <p:nvSpPr>
          <p:cNvPr id="32" name="Shape 30"/>
          <p:cNvSpPr/>
          <p:nvPr/>
        </p:nvSpPr>
        <p:spPr>
          <a:xfrm>
            <a:off x="8421624" y="2249424"/>
            <a:ext cx="164592" cy="164592"/>
          </a:xfrm>
          <a:prstGeom prst="ellipse">
            <a:avLst/>
          </a:prstGeom>
          <a:solidFill>
            <a:srgbClr val="F2C14E"/>
          </a:solidFill>
          <a:ln w="12700">
            <a:solidFill>
              <a:srgbClr val="0B0A0F"/>
            </a:solidFill>
            <a:prstDash val="solid"/>
          </a:ln>
        </p:spPr>
      </p:sp>
      <p:sp>
        <p:nvSpPr>
          <p:cNvPr id="33" name="Text 31"/>
          <p:cNvSpPr txBox="1"/>
          <p:nvPr/>
        </p:nvSpPr>
        <p:spPr>
          <a:xfrm>
            <a:off x="8046720" y="2514600"/>
            <a:ext cx="914400" cy="228600"/>
          </a:xfrm>
          <a:prstGeom prst="rect">
            <a:avLst/>
          </a:prstGeom>
          <a:noFill/>
          <a:ln/>
        </p:spPr>
        <p:txBody>
          <a:bodyPr wrap="square" lIns="0" tIns="0" rIns="0" bIns="0" rtlCol="0" anchor="ctr"/>
          <a:lstStyle/>
          <a:p>
            <a:pPr algn="ctr" indent="0" marL="0">
              <a:buNone/>
            </a:pPr>
            <a:r>
              <a:rPr lang="en-US" sz="1000" b="1" dirty="0">
                <a:solidFill>
                  <a:srgbClr val="F2C14E"/>
                </a:solidFill>
                <a:latin typeface="Arial" pitchFamily="34" charset="0"/>
                <a:ea typeface="Arial" pitchFamily="34" charset="-122"/>
                <a:cs typeface="Arial" pitchFamily="34" charset="-120"/>
              </a:rPr>
              <a:t>20:31</a:t>
            </a:r>
            <a:endParaRPr lang="en-US" sz="1000" dirty="0"/>
          </a:p>
        </p:txBody>
      </p:sp>
      <p:sp>
        <p:nvSpPr>
          <p:cNvPr id="34" name="Text 32"/>
          <p:cNvSpPr txBox="1"/>
          <p:nvPr/>
        </p:nvSpPr>
        <p:spPr>
          <a:xfrm>
            <a:off x="7936992" y="2743200"/>
            <a:ext cx="1133856" cy="868680"/>
          </a:xfrm>
          <a:prstGeom prst="rect">
            <a:avLst/>
          </a:prstGeom>
          <a:noFill/>
          <a:ln/>
        </p:spPr>
        <p:txBody>
          <a:bodyPr wrap="square" lIns="0" tIns="0" rIns="0" bIns="0" rtlCol="0" anchor="t"/>
          <a:lstStyle/>
          <a:p>
            <a:pPr algn="ctr" indent="0" marL="0">
              <a:buNone/>
            </a:pPr>
            <a:r>
              <a:rPr lang="en-US" sz="950" dirty="0">
                <a:solidFill>
                  <a:srgbClr val="EDE7E3"/>
                </a:solidFill>
                <a:latin typeface="Calibri" pitchFamily="34" charset="0"/>
                <a:ea typeface="Calibri" pitchFamily="34" charset="-122"/>
                <a:cs typeface="Calibri" pitchFamily="34" charset="-120"/>
              </a:rPr>
              <a:t>Display options</a:t>
            </a:r>
            <a:endParaRPr lang="en-US" sz="950" dirty="0"/>
          </a:p>
        </p:txBody>
      </p:sp>
      <p:sp>
        <p:nvSpPr>
          <p:cNvPr id="35" name="Text 33"/>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1150" dirty="0">
                <a:solidFill>
                  <a:srgbClr val="EDE7E3"/>
                </a:solidFill>
                <a:latin typeface="Calibri" pitchFamily="34" charset="0"/>
                <a:ea typeface="Calibri" pitchFamily="34" charset="-122"/>
                <a:cs typeface="Calibri" pitchFamily="34" charset="-120"/>
              </a:rPr>
              <a:t>Each request became a commit with a test where a rule changed, a docs update, and a verification run. </a:t>
            </a:r>
            <a:pPr indent="0" marL="0">
              <a:buNone/>
            </a:pPr>
            <a:r>
              <a:rPr lang="en-US" sz="1150" dirty="0">
                <a:solidFill>
                  <a:srgbClr val="EDE7E3"/>
                </a:solidFill>
                <a:latin typeface="Calibri" pitchFamily="34" charset="0"/>
                <a:ea typeface="Calibri" pitchFamily="34" charset="-122"/>
                <a:cs typeface="Calibri" pitchFamily="34" charset="-120"/>
              </a:rPr>
              <a:t>Corrections were treated the same way as features: </a:t>
            </a:r>
            <a:pPr indent="0" marL="0">
              <a:buNone/>
            </a:pPr>
            <a:r>
              <a:rPr lang="en-US" sz="1150" i="1" dirty="0">
                <a:solidFill>
                  <a:srgbClr val="F2C14E"/>
                </a:solidFill>
                <a:latin typeface="Calibri" pitchFamily="34" charset="0"/>
                <a:ea typeface="Calibri" pitchFamily="34" charset="-122"/>
                <a:cs typeface="Calibri" pitchFamily="34" charset="-120"/>
              </a:rPr>
              <a:t>“red blocks break off pieces, that's not right” </a:t>
            </a:r>
            <a:pPr indent="0" marL="0">
              <a:buNone/>
            </a:pPr>
            <a:r>
              <a:rPr lang="en-US" sz="1150" dirty="0">
                <a:solidFill>
                  <a:srgbClr val="EDE7E3"/>
                </a:solidFill>
                <a:latin typeface="Calibri" pitchFamily="34" charset="0"/>
                <a:ea typeface="Calibri" pitchFamily="34" charset="-122"/>
                <a:cs typeface="Calibri" pitchFamily="34" charset="-120"/>
              </a:rPr>
              <a:t>became a rewritten test, then an engine change, in one commit.</a:t>
            </a:r>
            <a:endParaRPr lang="en-US" sz="1150" dirty="0"/>
          </a:p>
        </p:txBody>
      </p:sp>
      <p:sp>
        <p:nvSpPr>
          <p:cNvPr id="36" name="Text 34"/>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HOW A RULE CHANGES</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Feedback becomes a test first</a:t>
            </a:r>
            <a:endParaRPr lang="en-US" sz="3000" dirty="0"/>
          </a:p>
        </p:txBody>
      </p:sp>
      <p:sp>
        <p:nvSpPr>
          <p:cNvPr id="4" name="Shape 2"/>
          <p:cNvSpPr/>
          <p:nvPr/>
        </p:nvSpPr>
        <p:spPr>
          <a:xfrm>
            <a:off x="457200" y="1143000"/>
            <a:ext cx="4297680" cy="3383280"/>
          </a:xfrm>
          <a:prstGeom prst="roundRect">
            <a:avLst>
              <a:gd name="adj" fmla="val 2703"/>
            </a:avLst>
          </a:prstGeom>
          <a:solidFill>
            <a:srgbClr val="060608"/>
          </a:solidFill>
          <a:ln w="12700">
            <a:solidFill>
              <a:srgbClr val="221F28"/>
            </a:solidFill>
            <a:prstDash val="solid"/>
          </a:ln>
        </p:spPr>
      </p:sp>
      <p:sp>
        <p:nvSpPr>
          <p:cNvPr id="5" name="Text 3"/>
          <p:cNvSpPr txBox="1"/>
          <p:nvPr/>
        </p:nvSpPr>
        <p:spPr>
          <a:xfrm>
            <a:off x="640080" y="1280160"/>
            <a:ext cx="3931920" cy="228600"/>
          </a:xfrm>
          <a:prstGeom prst="rect">
            <a:avLst/>
          </a:prstGeom>
          <a:noFill/>
          <a:ln/>
        </p:spPr>
        <p:txBody>
          <a:bodyPr wrap="square" lIns="0" tIns="0" rIns="0" bIns="0" rtlCol="0" anchor="ctr"/>
          <a:lstStyle/>
          <a:p>
            <a:pPr indent="0" marL="0">
              <a:buNone/>
            </a:pPr>
            <a:r>
              <a:rPr lang="en-US" sz="900" dirty="0">
                <a:solidFill>
                  <a:srgbClr val="F2C14E"/>
                </a:solidFill>
                <a:latin typeface="Courier New" pitchFamily="34" charset="0"/>
                <a:ea typeface="Courier New" pitchFamily="34" charset="-122"/>
                <a:cs typeface="Courier New" pitchFamily="34" charset="-120"/>
              </a:rPr>
              <a:t>// evil spawn: a hole needs a full red surround</a:t>
            </a:r>
            <a:endParaRPr lang="en-US" sz="900" dirty="0"/>
          </a:p>
        </p:txBody>
      </p:sp>
      <p:sp>
        <p:nvSpPr>
          <p:cNvPr id="6" name="Text 4"/>
          <p:cNvSpPr txBox="1"/>
          <p:nvPr/>
        </p:nvSpPr>
        <p:spPr>
          <a:xfrm>
            <a:off x="640080" y="1554480"/>
            <a:ext cx="3931920" cy="2880360"/>
          </a:xfrm>
          <a:prstGeom prst="rect">
            <a:avLst/>
          </a:prstGeom>
          <a:noFill/>
          <a:ln/>
        </p:spPr>
        <p:txBody>
          <a:bodyPr wrap="square" lIns="0" tIns="0" rIns="0" bIns="0" rtlCol="0" anchor="t"/>
          <a:lstStyle/>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fill(g, 19, CellKind::Red, 5);   // bottom row, hole at 5</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g.setCell(5, 18, Cell{CellKind::Red, 0});  // red above</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auto holes = g.evilSpawnCandidates();</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CHECK(holes.size() == 1 &amp;&amp; holes[0] == {5, 19});</a:t>
            </a:r>
            <a:endParaRPr lang="en-US" sz="850" dirty="0"/>
          </a:p>
          <a:p>
            <a:pPr indent="0" marL="0">
              <a:spcAft>
                <a:spcPts val="100"/>
              </a:spcAft>
              <a:buNone/>
            </a:pPr>
            <a:endParaRPr lang="en-US" sz="850" dirty="0"/>
          </a:p>
          <a:p>
            <a:pPr indent="0" marL="0">
              <a:spcAft>
                <a:spcPts val="100"/>
              </a:spcAft>
              <a:buNone/>
            </a:pPr>
            <a:r>
              <a:rPr lang="en-US" sz="850" dirty="0">
                <a:solidFill>
                  <a:srgbClr val="A39E99"/>
                </a:solidFill>
                <a:latin typeface="Courier New" pitchFamily="34" charset="0"/>
                <a:ea typeface="Courier New" pitchFamily="34" charset="-122"/>
                <a:cs typeface="Courier New" pitchFamily="34" charset="-120"/>
              </a:rPr>
              <a:t>// open sky above never qualifies</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Game h(4, r);  fill(h, 19, CellKind::Red, 5);</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CHECK(h.evilSpawnCandidates().empty());</a:t>
            </a:r>
            <a:endParaRPr lang="en-US" sz="850" dirty="0"/>
          </a:p>
          <a:p>
            <a:pPr indent="0" marL="0">
              <a:spcAft>
                <a:spcPts val="100"/>
              </a:spcAft>
              <a:buNone/>
            </a:pPr>
            <a:endParaRPr lang="en-US" sz="850" dirty="0"/>
          </a:p>
          <a:p>
            <a:pPr indent="0" marL="0">
              <a:spcAft>
                <a:spcPts val="100"/>
              </a:spcAft>
              <a:buNone/>
            </a:pPr>
            <a:r>
              <a:rPr lang="en-US" sz="850" dirty="0">
                <a:solidFill>
                  <a:srgbClr val="A39E99"/>
                </a:solidFill>
                <a:latin typeface="Courier New" pitchFamily="34" charset="0"/>
                <a:ea typeface="Courier New" pitchFamily="34" charset="-122"/>
                <a:cs typeface="Courier New" pitchFamily="34" charset="-120"/>
              </a:rPr>
              <a:t>// mid-board: all four neighbours must be red</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m.setCell(4, 11, Cell{CellKind::Normal, 0});</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CHECK(m.evilSpawnCandidates().empty());</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m.setCell(4, 11, Cell{CellKind::Red, 0});</a:t>
            </a:r>
            <a:endParaRPr lang="en-US" sz="850" dirty="0"/>
          </a:p>
          <a:p>
            <a:pPr indent="0" marL="0">
              <a:spcAft>
                <a:spcPts val="100"/>
              </a:spcAft>
              <a:buNone/>
            </a:pPr>
            <a:r>
              <a:rPr lang="en-US" sz="850" dirty="0">
                <a:solidFill>
                  <a:srgbClr val="EDE7E3"/>
                </a:solidFill>
                <a:latin typeface="Courier New" pitchFamily="34" charset="0"/>
                <a:ea typeface="Courier New" pitchFamily="34" charset="-122"/>
                <a:cs typeface="Courier New" pitchFamily="34" charset="-120"/>
              </a:rPr>
              <a:t>CHECK(m.evilSpawnCandidates().size() == 1);</a:t>
            </a:r>
            <a:endParaRPr lang="en-US" sz="850" dirty="0"/>
          </a:p>
        </p:txBody>
      </p:sp>
      <p:sp>
        <p:nvSpPr>
          <p:cNvPr id="7" name="Shape 5"/>
          <p:cNvSpPr/>
          <p:nvPr/>
        </p:nvSpPr>
        <p:spPr>
          <a:xfrm>
            <a:off x="4983480" y="1097280"/>
            <a:ext cx="3749040" cy="2148840"/>
          </a:xfrm>
          <a:prstGeom prst="roundRect">
            <a:avLst>
              <a:gd name="adj" fmla="val 3404"/>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8" name="Image 0" descr="/tmp/claude-1000/-home-davidj-Claude-Data/52a1801d-3e32-4d0a-8d76-a2b84efc293f/scratchpad/deck/shots/shot_evilspawn.jpg">    </p:cNvPr>
          <p:cNvPicPr>
            <a:picLocks noChangeAspect="1"/>
          </p:cNvPicPr>
          <p:nvPr/>
        </p:nvPicPr>
        <p:blipFill>
          <a:blip r:embed="rId1"/>
          <a:stretch>
            <a:fillRect/>
          </a:stretch>
        </p:blipFill>
        <p:spPr>
          <a:xfrm>
            <a:off x="5029200" y="1143000"/>
            <a:ext cx="3657600" cy="2057400"/>
          </a:xfrm>
          <a:prstGeom prst="rect">
            <a:avLst/>
          </a:prstGeom>
        </p:spPr>
      </p:pic>
      <p:sp>
        <p:nvSpPr>
          <p:cNvPr id="9" name="Text 6"/>
          <p:cNvSpPr txBox="1"/>
          <p:nvPr/>
        </p:nvSpPr>
        <p:spPr>
          <a:xfrm>
            <a:off x="5029200" y="3337560"/>
            <a:ext cx="3657600" cy="1234440"/>
          </a:xfrm>
          <a:prstGeom prst="rect">
            <a:avLst/>
          </a:prstGeom>
          <a:noFill/>
          <a:ln/>
        </p:spPr>
        <p:txBody>
          <a:bodyPr wrap="square" lIns="0" tIns="0" rIns="0" bIns="0" rtlCol="0" anchor="t"/>
          <a:lstStyle/>
          <a:p>
            <a:pPr indent="0" marL="0">
              <a:buNone/>
            </a:pPr>
            <a:r>
              <a:rPr lang="en-US" sz="1100" b="1" dirty="0">
                <a:solidFill>
                  <a:srgbClr val="F2C14E"/>
                </a:solidFill>
                <a:latin typeface="Calibri" pitchFamily="34" charset="0"/>
                <a:ea typeface="Calibri" pitchFamily="34" charset="-122"/>
                <a:cs typeface="Calibri" pitchFamily="34" charset="-120"/>
              </a:rPr>
              <a:t>The user asked: </a:t>
            </a:r>
            <a:pPr indent="0" marL="0">
              <a:buNone/>
            </a:pPr>
            <a:r>
              <a:rPr lang="en-US" sz="1100" i="1" dirty="0">
                <a:solidFill>
                  <a:srgbClr val="EDE7E3"/>
                </a:solidFill>
                <a:latin typeface="Calibri" pitchFamily="34" charset="0"/>
                <a:ea typeface="Calibri" pitchFamily="34" charset="-122"/>
                <a:cs typeface="Calibri" pitchFamily="34" charset="-120"/>
              </a:rPr>
              <a:t>“it has to have a full surround before spawning, right? Unless it's the bottom row.” </a:t>
            </a:r>
            <a:pPr indent="0" marL="0">
              <a:buNone/>
            </a:pPr>
            <a:r>
              <a:rPr lang="en-US" sz="1100" dirty="0">
                <a:solidFill>
                  <a:srgbClr val="EDE7E3"/>
                </a:solidFill>
                <a:latin typeface="Calibri" pitchFamily="34" charset="0"/>
                <a:ea typeface="Calibri" pitchFamily="34" charset="-122"/>
                <a:cs typeface="Calibri" pitchFamily="34" charset="-120"/>
              </a:rPr>
              <a:t>The first version had been looser. The fix started with the cases above, and the engine was changed until they passed. The old, wrong behaviour can never come back silently.</a:t>
            </a:r>
            <a:endParaRPr lang="en-US" sz="1100" dirty="0"/>
          </a:p>
        </p:txBody>
      </p:sp>
      <p:sp>
        <p:nvSpPr>
          <p:cNvPr id="10" name="Text 7"/>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DEEP DIVE  ·  18:30</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Music from a chip written to spec</a:t>
            </a:r>
            <a:endParaRPr lang="en-US" sz="3000" dirty="0"/>
          </a:p>
        </p:txBody>
      </p:sp>
      <p:sp>
        <p:nvSpPr>
          <p:cNvPr id="4" name="Shape 2"/>
          <p:cNvSpPr/>
          <p:nvPr/>
        </p:nvSpPr>
        <p:spPr>
          <a:xfrm>
            <a:off x="457200" y="1216152"/>
            <a:ext cx="548640" cy="548640"/>
          </a:xfrm>
          <a:prstGeom prst="ellipse">
            <a:avLst/>
          </a:prstGeom>
          <a:solidFill>
            <a:srgbClr val="8C1711"/>
          </a:solidFill>
          <a:ln/>
        </p:spPr>
      </p:sp>
      <p:pic>
        <p:nvPicPr>
          <p:cNvPr id="5" name="Image 0" descr="preencoded.png">    </p:cNvPr>
          <p:cNvPicPr>
            <a:picLocks noChangeAspect="1"/>
          </p:cNvPicPr>
          <p:nvPr/>
        </p:nvPicPr>
        <p:blipFill>
          <a:blip r:embed="rId1"/>
          <a:stretch>
            <a:fillRect/>
          </a:stretch>
        </p:blipFill>
        <p:spPr>
          <a:xfrm>
            <a:off x="585216" y="1344168"/>
            <a:ext cx="292608" cy="292608"/>
          </a:xfrm>
          <a:prstGeom prst="rect">
            <a:avLst/>
          </a:prstGeom>
        </p:spPr>
      </p:pic>
      <p:sp>
        <p:nvSpPr>
          <p:cNvPr id="6" name="Text 3"/>
          <p:cNvSpPr txBox="1"/>
          <p:nvPr/>
        </p:nvSpPr>
        <p:spPr>
          <a:xfrm>
            <a:off x="1188720" y="1143000"/>
            <a:ext cx="74980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MUS + GENMIDI</a:t>
            </a:r>
            <a:endParaRPr lang="en-US" sz="1300" dirty="0"/>
          </a:p>
        </p:txBody>
      </p:sp>
      <p:sp>
        <p:nvSpPr>
          <p:cNvPr id="7" name="Text 4"/>
          <p:cNvSpPr txBox="1"/>
          <p:nvPr/>
        </p:nvSpPr>
        <p:spPr>
          <a:xfrm>
            <a:off x="1188720" y="1417320"/>
            <a:ext cx="7498080" cy="548640"/>
          </a:xfrm>
          <a:prstGeom prst="rect">
            <a:avLst/>
          </a:prstGeom>
          <a:noFill/>
          <a:ln/>
        </p:spPr>
        <p:txBody>
          <a:bodyPr wrap="square" lIns="0" tIns="0" rIns="0" bIns="0" rtlCol="0" anchor="t"/>
          <a:lstStyle/>
          <a:p>
            <a:pPr indent="0" marL="0">
              <a:buNone/>
            </a:pPr>
            <a:r>
              <a:rPr lang="en-US" sz="1100" dirty="0">
                <a:solidFill>
                  <a:srgbClr val="EDE7E3"/>
                </a:solidFill>
                <a:latin typeface="Calibri" pitchFamily="34" charset="0"/>
                <a:ea typeface="Calibri" pitchFamily="34" charset="-122"/>
                <a:cs typeface="Calibri" pitchFamily="34" charset="-120"/>
              </a:rPr>
              <a:t>Doom's music is stored as compact MIDI-like scores with an Adlib instrument bank. Both parsers were written and tested against the real WAD.</a:t>
            </a:r>
            <a:endParaRPr lang="en-US" sz="1100" dirty="0"/>
          </a:p>
        </p:txBody>
      </p:sp>
      <p:sp>
        <p:nvSpPr>
          <p:cNvPr id="8" name="Shape 5"/>
          <p:cNvSpPr/>
          <p:nvPr/>
        </p:nvSpPr>
        <p:spPr>
          <a:xfrm>
            <a:off x="457200" y="2066544"/>
            <a:ext cx="548640" cy="548640"/>
          </a:xfrm>
          <a:prstGeom prst="ellipse">
            <a:avLst/>
          </a:prstGeom>
          <a:solidFill>
            <a:srgbClr val="8C1711"/>
          </a:solidFill>
          <a:ln/>
        </p:spPr>
      </p:sp>
      <p:pic>
        <p:nvPicPr>
          <p:cNvPr id="9" name="Image 1" descr="preencoded.png">    </p:cNvPr>
          <p:cNvPicPr>
            <a:picLocks noChangeAspect="1"/>
          </p:cNvPicPr>
          <p:nvPr/>
        </p:nvPicPr>
        <p:blipFill>
          <a:blip r:embed="rId2"/>
          <a:stretch>
            <a:fillRect/>
          </a:stretch>
        </p:blipFill>
        <p:spPr>
          <a:xfrm>
            <a:off x="585216" y="2194560"/>
            <a:ext cx="292608" cy="292608"/>
          </a:xfrm>
          <a:prstGeom prst="rect">
            <a:avLst/>
          </a:prstGeom>
        </p:spPr>
      </p:pic>
      <p:sp>
        <p:nvSpPr>
          <p:cNvPr id="10" name="Text 6"/>
          <p:cNvSpPr txBox="1"/>
          <p:nvPr/>
        </p:nvSpPr>
        <p:spPr>
          <a:xfrm>
            <a:off x="1188720" y="1993392"/>
            <a:ext cx="74980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OPL3 emulator</a:t>
            </a:r>
            <a:endParaRPr lang="en-US" sz="1300" dirty="0"/>
          </a:p>
        </p:txBody>
      </p:sp>
      <p:sp>
        <p:nvSpPr>
          <p:cNvPr id="11" name="Text 7"/>
          <p:cNvSpPr txBox="1"/>
          <p:nvPr/>
        </p:nvSpPr>
        <p:spPr>
          <a:xfrm>
            <a:off x="1188720" y="2267712"/>
            <a:ext cx="7498080" cy="548640"/>
          </a:xfrm>
          <a:prstGeom prst="rect">
            <a:avLst/>
          </a:prstGeom>
          <a:noFill/>
          <a:ln/>
        </p:spPr>
        <p:txBody>
          <a:bodyPr wrap="square" lIns="0" tIns="0" rIns="0" bIns="0" rtlCol="0" anchor="t"/>
          <a:lstStyle/>
          <a:p>
            <a:pPr indent="0" marL="0">
              <a:buNone/>
            </a:pPr>
            <a:r>
              <a:rPr lang="en-US" sz="1100" dirty="0">
                <a:solidFill>
                  <a:srgbClr val="EDE7E3"/>
                </a:solidFill>
                <a:latin typeface="Calibri" pitchFamily="34" charset="0"/>
                <a:ea typeface="Calibri" pitchFamily="34" charset="-122"/>
                <a:cs typeface="Calibri" pitchFamily="34" charset="-120"/>
              </a:rPr>
              <a:t>No soundfont on the machine, so a subagent implemented the Yamaha YMF262 from its documented behaviour: log-sin tables, envelopes, feedback, 18 voices. 48 checks including a 440 Hz pitch measurement; 1.7% of one core.</a:t>
            </a:r>
            <a:endParaRPr lang="en-US" sz="1100" dirty="0"/>
          </a:p>
        </p:txBody>
      </p:sp>
      <p:sp>
        <p:nvSpPr>
          <p:cNvPr id="12" name="Shape 8"/>
          <p:cNvSpPr/>
          <p:nvPr/>
        </p:nvSpPr>
        <p:spPr>
          <a:xfrm>
            <a:off x="457200" y="2916936"/>
            <a:ext cx="548640" cy="548640"/>
          </a:xfrm>
          <a:prstGeom prst="ellipse">
            <a:avLst/>
          </a:prstGeom>
          <a:solidFill>
            <a:srgbClr val="8C1711"/>
          </a:solidFill>
          <a:ln/>
        </p:spPr>
      </p:sp>
      <p:pic>
        <p:nvPicPr>
          <p:cNvPr id="13" name="Image 2" descr="preencoded.png">    </p:cNvPr>
          <p:cNvPicPr>
            <a:picLocks noChangeAspect="1"/>
          </p:cNvPicPr>
          <p:nvPr/>
        </p:nvPicPr>
        <p:blipFill>
          <a:blip r:embed="rId3"/>
          <a:stretch>
            <a:fillRect/>
          </a:stretch>
        </p:blipFill>
        <p:spPr>
          <a:xfrm>
            <a:off x="585216" y="3044952"/>
            <a:ext cx="292608" cy="292608"/>
          </a:xfrm>
          <a:prstGeom prst="rect">
            <a:avLst/>
          </a:prstGeom>
        </p:spPr>
      </p:pic>
      <p:sp>
        <p:nvSpPr>
          <p:cNvPr id="14" name="Text 9"/>
          <p:cNvSpPr txBox="1"/>
          <p:nvPr/>
        </p:nvSpPr>
        <p:spPr>
          <a:xfrm>
            <a:off x="1188720" y="2843784"/>
            <a:ext cx="74980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Three soundtracks</a:t>
            </a:r>
            <a:endParaRPr lang="en-US" sz="1300" dirty="0"/>
          </a:p>
        </p:txBody>
      </p:sp>
      <p:sp>
        <p:nvSpPr>
          <p:cNvPr id="15" name="Text 10"/>
          <p:cNvSpPr txBox="1"/>
          <p:nvPr/>
        </p:nvSpPr>
        <p:spPr>
          <a:xfrm>
            <a:off x="1188720" y="3118104"/>
            <a:ext cx="7498080" cy="548640"/>
          </a:xfrm>
          <a:prstGeom prst="rect">
            <a:avLst/>
          </a:prstGeom>
          <a:noFill/>
          <a:ln/>
        </p:spPr>
        <p:txBody>
          <a:bodyPr wrap="square" lIns="0" tIns="0" rIns="0" bIns="0" rtlCol="0" anchor="t"/>
          <a:lstStyle/>
          <a:p>
            <a:pPr indent="0" marL="0">
              <a:buNone/>
            </a:pPr>
            <a:r>
              <a:rPr lang="en-US" sz="1100" dirty="0">
                <a:solidFill>
                  <a:srgbClr val="EDE7E3"/>
                </a:solidFill>
                <a:latin typeface="Calibri" pitchFamily="34" charset="0"/>
                <a:ea typeface="Calibri" pitchFamily="34" charset="-122"/>
                <a:cs typeface="Calibri" pitchFamily="34" charset="-120"/>
              </a:rPr>
              <a:t>The rerelease ships Ogg recordings in a 625 MB WAD. The game indexes it by directory only and streams the Modern (Hulshult) or SC-55 sets; Classic falls back to the emulator.</a:t>
            </a:r>
            <a:endParaRPr lang="en-US" sz="1100" dirty="0"/>
          </a:p>
        </p:txBody>
      </p:sp>
      <p:sp>
        <p:nvSpPr>
          <p:cNvPr id="16" name="Shape 11"/>
          <p:cNvSpPr/>
          <p:nvPr/>
        </p:nvSpPr>
        <p:spPr>
          <a:xfrm>
            <a:off x="457200" y="3767328"/>
            <a:ext cx="548640" cy="548640"/>
          </a:xfrm>
          <a:prstGeom prst="ellipse">
            <a:avLst/>
          </a:prstGeom>
          <a:solidFill>
            <a:srgbClr val="8C1711"/>
          </a:solidFill>
          <a:ln/>
        </p:spPr>
      </p:sp>
      <p:pic>
        <p:nvPicPr>
          <p:cNvPr id="17" name="Image 3" descr="preencoded.png">    </p:cNvPr>
          <p:cNvPicPr>
            <a:picLocks noChangeAspect="1"/>
          </p:cNvPicPr>
          <p:nvPr/>
        </p:nvPicPr>
        <p:blipFill>
          <a:blip r:embed="rId4"/>
          <a:stretch>
            <a:fillRect/>
          </a:stretch>
        </p:blipFill>
        <p:spPr>
          <a:xfrm>
            <a:off x="585216" y="3895344"/>
            <a:ext cx="292608" cy="292608"/>
          </a:xfrm>
          <a:prstGeom prst="rect">
            <a:avLst/>
          </a:prstGeom>
        </p:spPr>
      </p:pic>
      <p:sp>
        <p:nvSpPr>
          <p:cNvPr id="18" name="Text 12"/>
          <p:cNvSpPr txBox="1"/>
          <p:nvPr/>
        </p:nvSpPr>
        <p:spPr>
          <a:xfrm>
            <a:off x="1188720" y="3694176"/>
            <a:ext cx="74980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Verified by ear and by numbers</a:t>
            </a:r>
            <a:endParaRPr lang="en-US" sz="1300" dirty="0"/>
          </a:p>
        </p:txBody>
      </p:sp>
      <p:sp>
        <p:nvSpPr>
          <p:cNvPr id="19" name="Text 13"/>
          <p:cNvSpPr txBox="1"/>
          <p:nvPr/>
        </p:nvSpPr>
        <p:spPr>
          <a:xfrm>
            <a:off x="1188720" y="3968496"/>
            <a:ext cx="7498080" cy="548640"/>
          </a:xfrm>
          <a:prstGeom prst="rect">
            <a:avLst/>
          </a:prstGeom>
          <a:noFill/>
          <a:ln/>
        </p:spPr>
        <p:txBody>
          <a:bodyPr wrap="square" lIns="0" tIns="0" rIns="0" bIns="0" rtlCol="0" anchor="t"/>
          <a:lstStyle/>
          <a:p>
            <a:pPr indent="0" marL="0">
              <a:buNone/>
            </a:pPr>
            <a:r>
              <a:rPr lang="en-US" sz="1100" dirty="0">
                <a:solidFill>
                  <a:srgbClr val="EDE7E3"/>
                </a:solidFill>
                <a:latin typeface="Calibri" pitchFamily="34" charset="0"/>
                <a:ea typeface="Calibri" pitchFamily="34" charset="-122"/>
                <a:cs typeface="Calibri" pitchFamily="34" charset="-120"/>
              </a:rPr>
              <a:t>Tracks were rendered to WAV for the user to hear, and the mix was captured in-game to prove the streaming path.</a:t>
            </a:r>
            <a:endParaRPr lang="en-US" sz="1100" dirty="0"/>
          </a:p>
        </p:txBody>
      </p:sp>
      <p:sp>
        <p:nvSpPr>
          <p:cNvPr id="20" name="Text 14"/>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WHAT THE PROCESS CAUGHT</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Bugs found by the AI's own checks</a:t>
            </a:r>
            <a:endParaRPr lang="en-US" sz="3000" dirty="0"/>
          </a:p>
        </p:txBody>
      </p:sp>
      <p:sp>
        <p:nvSpPr>
          <p:cNvPr id="4" name="Shape 2"/>
          <p:cNvSpPr/>
          <p:nvPr/>
        </p:nvSpPr>
        <p:spPr>
          <a:xfrm>
            <a:off x="457200" y="1143000"/>
            <a:ext cx="4023360" cy="1508760"/>
          </a:xfrm>
          <a:prstGeom prst="roundRect">
            <a:avLst>
              <a:gd name="adj" fmla="val 6061"/>
            </a:avLst>
          </a:prstGeom>
          <a:solidFill>
            <a:srgbClr val="17151C"/>
          </a:solidFill>
          <a:ln w="12700">
            <a:solidFill>
              <a:srgbClr val="221F28"/>
            </a:solidFill>
            <a:prstDash val="solid"/>
          </a:ln>
        </p:spPr>
      </p:sp>
      <p:sp>
        <p:nvSpPr>
          <p:cNvPr id="5" name="Shape 3"/>
          <p:cNvSpPr/>
          <p:nvPr/>
        </p:nvSpPr>
        <p:spPr>
          <a:xfrm>
            <a:off x="640080" y="1325880"/>
            <a:ext cx="457200" cy="457200"/>
          </a:xfrm>
          <a:prstGeom prst="ellipse">
            <a:avLst/>
          </a:prstGeom>
          <a:solidFill>
            <a:srgbClr val="D7261E"/>
          </a:solidFill>
          <a:ln/>
        </p:spPr>
      </p:sp>
      <p:pic>
        <p:nvPicPr>
          <p:cNvPr id="6" name="Image 0" descr="preencoded.png">    </p:cNvPr>
          <p:cNvPicPr>
            <a:picLocks noChangeAspect="1"/>
          </p:cNvPicPr>
          <p:nvPr/>
        </p:nvPicPr>
        <p:blipFill>
          <a:blip r:embed="rId1"/>
          <a:stretch>
            <a:fillRect/>
          </a:stretch>
        </p:blipFill>
        <p:spPr>
          <a:xfrm>
            <a:off x="740664" y="1426464"/>
            <a:ext cx="256032" cy="256032"/>
          </a:xfrm>
          <a:prstGeom prst="rect">
            <a:avLst/>
          </a:prstGeom>
        </p:spPr>
      </p:pic>
      <p:sp>
        <p:nvSpPr>
          <p:cNvPr id="7" name="Text 4"/>
          <p:cNvSpPr txBox="1"/>
          <p:nvPr/>
        </p:nvSpPr>
        <p:spPr>
          <a:xfrm>
            <a:off x="1234440" y="1325880"/>
            <a:ext cx="3108960" cy="457200"/>
          </a:xfrm>
          <a:prstGeom prst="rect">
            <a:avLst/>
          </a:prstGeom>
          <a:noFill/>
          <a:ln/>
        </p:spPr>
        <p:txBody>
          <a:bodyPr wrap="square" lIns="0" tIns="0" rIns="0" bIns="0" rtlCol="0" anchor="ctr"/>
          <a:lstStyle/>
          <a:p>
            <a:pPr indent="0" marL="0">
              <a:buNone/>
            </a:pPr>
            <a:r>
              <a:rPr lang="en-US" sz="1300" b="1" dirty="0">
                <a:solidFill>
                  <a:srgbClr val="EDE7E3"/>
                </a:solidFill>
                <a:latin typeface="Arial" pitchFamily="34" charset="0"/>
                <a:ea typeface="Arial" pitchFamily="34" charset="-122"/>
                <a:cs typeface="Arial" pitchFamily="34" charset="-120"/>
              </a:rPr>
              <a:t>Crash on exit</a:t>
            </a:r>
            <a:endParaRPr lang="en-US" sz="1300" dirty="0"/>
          </a:p>
        </p:txBody>
      </p:sp>
      <p:sp>
        <p:nvSpPr>
          <p:cNvPr id="8" name="Text 5"/>
          <p:cNvSpPr txBox="1"/>
          <p:nvPr/>
        </p:nvSpPr>
        <p:spPr>
          <a:xfrm>
            <a:off x="640080" y="1856232"/>
            <a:ext cx="3657600" cy="54864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Audio streams were destroyed after SDL_Quit. Every earlier run used --mute, so it hid until a run with sound checked its exit code.</a:t>
            </a:r>
            <a:endParaRPr lang="en-US" sz="1000" dirty="0"/>
          </a:p>
        </p:txBody>
      </p:sp>
      <p:sp>
        <p:nvSpPr>
          <p:cNvPr id="9" name="Text 6"/>
          <p:cNvSpPr txBox="1"/>
          <p:nvPr/>
        </p:nvSpPr>
        <p:spPr>
          <a:xfrm>
            <a:off x="640080" y="2377440"/>
            <a:ext cx="3657600" cy="228600"/>
          </a:xfrm>
          <a:prstGeom prst="rect">
            <a:avLst/>
          </a:prstGeom>
          <a:noFill/>
          <a:ln/>
        </p:spPr>
        <p:txBody>
          <a:bodyPr wrap="square" lIns="0" tIns="0" rIns="0" bIns="0" rtlCol="0" anchor="ctr"/>
          <a:lstStyle/>
          <a:p>
            <a:pPr indent="0" marL="0">
              <a:buNone/>
            </a:pPr>
            <a:r>
              <a:rPr lang="en-US" sz="1000" dirty="0">
                <a:solidFill>
                  <a:srgbClr val="F2C14E"/>
                </a:solidFill>
                <a:latin typeface="Calibri" pitchFamily="34" charset="0"/>
                <a:ea typeface="Calibri" pitchFamily="34" charset="-122"/>
                <a:cs typeface="Calibri" pitchFamily="34" charset="-120"/>
              </a:rPr>
              <a:t>Fix: Explicit shutdown order</a:t>
            </a:r>
            <a:endParaRPr lang="en-US" sz="1000" dirty="0"/>
          </a:p>
        </p:txBody>
      </p:sp>
      <p:sp>
        <p:nvSpPr>
          <p:cNvPr id="10" name="Shape 7"/>
          <p:cNvSpPr/>
          <p:nvPr/>
        </p:nvSpPr>
        <p:spPr>
          <a:xfrm>
            <a:off x="4663440" y="1143000"/>
            <a:ext cx="4023360" cy="1508760"/>
          </a:xfrm>
          <a:prstGeom prst="roundRect">
            <a:avLst>
              <a:gd name="adj" fmla="val 6061"/>
            </a:avLst>
          </a:prstGeom>
          <a:solidFill>
            <a:srgbClr val="17151C"/>
          </a:solidFill>
          <a:ln w="12700">
            <a:solidFill>
              <a:srgbClr val="221F28"/>
            </a:solidFill>
            <a:prstDash val="solid"/>
          </a:ln>
        </p:spPr>
      </p:sp>
      <p:sp>
        <p:nvSpPr>
          <p:cNvPr id="11" name="Shape 8"/>
          <p:cNvSpPr/>
          <p:nvPr/>
        </p:nvSpPr>
        <p:spPr>
          <a:xfrm>
            <a:off x="4846320" y="1325880"/>
            <a:ext cx="457200" cy="457200"/>
          </a:xfrm>
          <a:prstGeom prst="ellipse">
            <a:avLst/>
          </a:prstGeom>
          <a:solidFill>
            <a:srgbClr val="D7261E"/>
          </a:solidFill>
          <a:ln/>
        </p:spPr>
      </p:sp>
      <p:pic>
        <p:nvPicPr>
          <p:cNvPr id="12" name="Image 1" descr="preencoded.png">    </p:cNvPr>
          <p:cNvPicPr>
            <a:picLocks noChangeAspect="1"/>
          </p:cNvPicPr>
          <p:nvPr/>
        </p:nvPicPr>
        <p:blipFill>
          <a:blip r:embed="rId2"/>
          <a:stretch>
            <a:fillRect/>
          </a:stretch>
        </p:blipFill>
        <p:spPr>
          <a:xfrm>
            <a:off x="4946904" y="1426464"/>
            <a:ext cx="256032" cy="256032"/>
          </a:xfrm>
          <a:prstGeom prst="rect">
            <a:avLst/>
          </a:prstGeom>
        </p:spPr>
      </p:pic>
      <p:sp>
        <p:nvSpPr>
          <p:cNvPr id="13" name="Text 9"/>
          <p:cNvSpPr txBox="1"/>
          <p:nvPr/>
        </p:nvSpPr>
        <p:spPr>
          <a:xfrm>
            <a:off x="5440680" y="1325880"/>
            <a:ext cx="3108960" cy="457200"/>
          </a:xfrm>
          <a:prstGeom prst="rect">
            <a:avLst/>
          </a:prstGeom>
          <a:noFill/>
          <a:ln/>
        </p:spPr>
        <p:txBody>
          <a:bodyPr wrap="square" lIns="0" tIns="0" rIns="0" bIns="0" rtlCol="0" anchor="ctr"/>
          <a:lstStyle/>
          <a:p>
            <a:pPr indent="0" marL="0">
              <a:buNone/>
            </a:pPr>
            <a:r>
              <a:rPr lang="en-US" sz="1300" b="1" dirty="0">
                <a:solidFill>
                  <a:srgbClr val="EDE7E3"/>
                </a:solidFill>
                <a:latin typeface="Arial" pitchFamily="34" charset="0"/>
                <a:ea typeface="Arial" pitchFamily="34" charset="-122"/>
                <a:cs typeface="Arial" pitchFamily="34" charset="-120"/>
              </a:rPr>
              <a:t>Crash on exit, again</a:t>
            </a:r>
            <a:endParaRPr lang="en-US" sz="1300" dirty="0"/>
          </a:p>
        </p:txBody>
      </p:sp>
      <p:sp>
        <p:nvSpPr>
          <p:cNvPr id="14" name="Text 10"/>
          <p:cNvSpPr txBox="1"/>
          <p:nvPr/>
        </p:nvSpPr>
        <p:spPr>
          <a:xfrm>
            <a:off x="4846320" y="1856232"/>
            <a:ext cx="3657600" cy="54864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The music stream had the same lifetime bug. Found because the previous fix made exit codes something the AI now checked every time.</a:t>
            </a:r>
            <a:endParaRPr lang="en-US" sz="1000" dirty="0"/>
          </a:p>
        </p:txBody>
      </p:sp>
      <p:sp>
        <p:nvSpPr>
          <p:cNvPr id="15" name="Text 11"/>
          <p:cNvSpPr txBox="1"/>
          <p:nvPr/>
        </p:nvSpPr>
        <p:spPr>
          <a:xfrm>
            <a:off x="4846320" y="2377440"/>
            <a:ext cx="3657600" cy="228600"/>
          </a:xfrm>
          <a:prstGeom prst="rect">
            <a:avLst/>
          </a:prstGeom>
          <a:noFill/>
          <a:ln/>
        </p:spPr>
        <p:txBody>
          <a:bodyPr wrap="square" lIns="0" tIns="0" rIns="0" bIns="0" rtlCol="0" anchor="ctr"/>
          <a:lstStyle/>
          <a:p>
            <a:pPr indent="0" marL="0">
              <a:buNone/>
            </a:pPr>
            <a:r>
              <a:rPr lang="en-US" sz="1000" dirty="0">
                <a:solidFill>
                  <a:srgbClr val="F2C14E"/>
                </a:solidFill>
                <a:latin typeface="Calibri" pitchFamily="34" charset="0"/>
                <a:ea typeface="Calibri" pitchFamily="34" charset="-122"/>
                <a:cs typeface="Calibri" pitchFamily="34" charset="-120"/>
              </a:rPr>
              <a:t>Fix: Music::shutdown() before SDL_Quit</a:t>
            </a:r>
            <a:endParaRPr lang="en-US" sz="1000" dirty="0"/>
          </a:p>
        </p:txBody>
      </p:sp>
      <p:sp>
        <p:nvSpPr>
          <p:cNvPr id="16" name="Shape 12"/>
          <p:cNvSpPr/>
          <p:nvPr/>
        </p:nvSpPr>
        <p:spPr>
          <a:xfrm>
            <a:off x="457200" y="2834640"/>
            <a:ext cx="4023360" cy="1508760"/>
          </a:xfrm>
          <a:prstGeom prst="roundRect">
            <a:avLst>
              <a:gd name="adj" fmla="val 6061"/>
            </a:avLst>
          </a:prstGeom>
          <a:solidFill>
            <a:srgbClr val="17151C"/>
          </a:solidFill>
          <a:ln w="12700">
            <a:solidFill>
              <a:srgbClr val="221F28"/>
            </a:solidFill>
            <a:prstDash val="solid"/>
          </a:ln>
        </p:spPr>
      </p:sp>
      <p:sp>
        <p:nvSpPr>
          <p:cNvPr id="17" name="Shape 13"/>
          <p:cNvSpPr/>
          <p:nvPr/>
        </p:nvSpPr>
        <p:spPr>
          <a:xfrm>
            <a:off x="640080" y="3017520"/>
            <a:ext cx="457200" cy="457200"/>
          </a:xfrm>
          <a:prstGeom prst="ellipse">
            <a:avLst/>
          </a:prstGeom>
          <a:solidFill>
            <a:srgbClr val="D7261E"/>
          </a:solidFill>
          <a:ln/>
        </p:spPr>
      </p:sp>
      <p:pic>
        <p:nvPicPr>
          <p:cNvPr id="18" name="Image 2" descr="preencoded.png">    </p:cNvPr>
          <p:cNvPicPr>
            <a:picLocks noChangeAspect="1"/>
          </p:cNvPicPr>
          <p:nvPr/>
        </p:nvPicPr>
        <p:blipFill>
          <a:blip r:embed="rId3"/>
          <a:stretch>
            <a:fillRect/>
          </a:stretch>
        </p:blipFill>
        <p:spPr>
          <a:xfrm>
            <a:off x="740664" y="3118104"/>
            <a:ext cx="256032" cy="256032"/>
          </a:xfrm>
          <a:prstGeom prst="rect">
            <a:avLst/>
          </a:prstGeom>
        </p:spPr>
      </p:pic>
      <p:sp>
        <p:nvSpPr>
          <p:cNvPr id="19" name="Text 14"/>
          <p:cNvSpPr txBox="1"/>
          <p:nvPr/>
        </p:nvSpPr>
        <p:spPr>
          <a:xfrm>
            <a:off x="1234440" y="3017520"/>
            <a:ext cx="3108960" cy="457200"/>
          </a:xfrm>
          <a:prstGeom prst="rect">
            <a:avLst/>
          </a:prstGeom>
          <a:noFill/>
          <a:ln/>
        </p:spPr>
        <p:txBody>
          <a:bodyPr wrap="square" lIns="0" tIns="0" rIns="0" bIns="0" rtlCol="0" anchor="ctr"/>
          <a:lstStyle/>
          <a:p>
            <a:pPr indent="0" marL="0">
              <a:buNone/>
            </a:pPr>
            <a:r>
              <a:rPr lang="en-US" sz="1300" b="1" dirty="0">
                <a:solidFill>
                  <a:srgbClr val="EDE7E3"/>
                </a:solidFill>
                <a:latin typeface="Arial" pitchFamily="34" charset="0"/>
                <a:ea typeface="Arial" pitchFamily="34" charset="-122"/>
                <a:cs typeface="Arial" pitchFamily="34" charset="-120"/>
              </a:rPr>
              <a:t>Segfault with --fullscreen</a:t>
            </a:r>
            <a:endParaRPr lang="en-US" sz="1300" dirty="0"/>
          </a:p>
        </p:txBody>
      </p:sp>
      <p:sp>
        <p:nvSpPr>
          <p:cNvPr id="20" name="Text 15"/>
          <p:cNvSpPr txBox="1"/>
          <p:nvPr/>
        </p:nvSpPr>
        <p:spPr>
          <a:xfrm>
            <a:off x="640080" y="3547872"/>
            <a:ext cx="3657600" cy="54864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Display settings applied before the Vulkan context existed. Caught by the very run meant to prove the new option.</a:t>
            </a:r>
            <a:endParaRPr lang="en-US" sz="1000" dirty="0"/>
          </a:p>
        </p:txBody>
      </p:sp>
      <p:sp>
        <p:nvSpPr>
          <p:cNvPr id="21" name="Text 16"/>
          <p:cNvSpPr txBox="1"/>
          <p:nvPr/>
        </p:nvSpPr>
        <p:spPr>
          <a:xfrm>
            <a:off x="640080" y="4069080"/>
            <a:ext cx="3657600" cy="228600"/>
          </a:xfrm>
          <a:prstGeom prst="rect">
            <a:avLst/>
          </a:prstGeom>
          <a:noFill/>
          <a:ln/>
        </p:spPr>
        <p:txBody>
          <a:bodyPr wrap="square" lIns="0" tIns="0" rIns="0" bIns="0" rtlCol="0" anchor="ctr"/>
          <a:lstStyle/>
          <a:p>
            <a:pPr indent="0" marL="0">
              <a:buNone/>
            </a:pPr>
            <a:r>
              <a:rPr lang="en-US" sz="1000" dirty="0">
                <a:solidFill>
                  <a:srgbClr val="F2C14E"/>
                </a:solidFill>
                <a:latin typeface="Calibri" pitchFamily="34" charset="0"/>
                <a:ea typeface="Calibri" pitchFamily="34" charset="-122"/>
                <a:cs typeface="Calibri" pitchFamily="34" charset="-120"/>
              </a:rPr>
              <a:t>Fix: Null guard; context sizes itself</a:t>
            </a:r>
            <a:endParaRPr lang="en-US" sz="1000" dirty="0"/>
          </a:p>
        </p:txBody>
      </p:sp>
      <p:sp>
        <p:nvSpPr>
          <p:cNvPr id="22" name="Shape 17"/>
          <p:cNvSpPr/>
          <p:nvPr/>
        </p:nvSpPr>
        <p:spPr>
          <a:xfrm>
            <a:off x="4663440" y="2834640"/>
            <a:ext cx="4023360" cy="1508760"/>
          </a:xfrm>
          <a:prstGeom prst="roundRect">
            <a:avLst>
              <a:gd name="adj" fmla="val 6061"/>
            </a:avLst>
          </a:prstGeom>
          <a:solidFill>
            <a:srgbClr val="17151C"/>
          </a:solidFill>
          <a:ln w="12700">
            <a:solidFill>
              <a:srgbClr val="221F28"/>
            </a:solidFill>
            <a:prstDash val="solid"/>
          </a:ln>
        </p:spPr>
      </p:sp>
      <p:sp>
        <p:nvSpPr>
          <p:cNvPr id="23" name="Shape 18"/>
          <p:cNvSpPr/>
          <p:nvPr/>
        </p:nvSpPr>
        <p:spPr>
          <a:xfrm>
            <a:off x="4846320" y="3017520"/>
            <a:ext cx="457200" cy="457200"/>
          </a:xfrm>
          <a:prstGeom prst="ellipse">
            <a:avLst/>
          </a:prstGeom>
          <a:solidFill>
            <a:srgbClr val="D7261E"/>
          </a:solidFill>
          <a:ln/>
        </p:spPr>
      </p:sp>
      <p:pic>
        <p:nvPicPr>
          <p:cNvPr id="24" name="Image 3" descr="preencoded.png">    </p:cNvPr>
          <p:cNvPicPr>
            <a:picLocks noChangeAspect="1"/>
          </p:cNvPicPr>
          <p:nvPr/>
        </p:nvPicPr>
        <p:blipFill>
          <a:blip r:embed="rId4"/>
          <a:stretch>
            <a:fillRect/>
          </a:stretch>
        </p:blipFill>
        <p:spPr>
          <a:xfrm>
            <a:off x="4946904" y="3118104"/>
            <a:ext cx="256032" cy="256032"/>
          </a:xfrm>
          <a:prstGeom prst="rect">
            <a:avLst/>
          </a:prstGeom>
        </p:spPr>
      </p:pic>
      <p:sp>
        <p:nvSpPr>
          <p:cNvPr id="25" name="Text 19"/>
          <p:cNvSpPr txBox="1"/>
          <p:nvPr/>
        </p:nvSpPr>
        <p:spPr>
          <a:xfrm>
            <a:off x="5440680" y="3017520"/>
            <a:ext cx="3108960" cy="457200"/>
          </a:xfrm>
          <a:prstGeom prst="rect">
            <a:avLst/>
          </a:prstGeom>
          <a:noFill/>
          <a:ln/>
        </p:spPr>
        <p:txBody>
          <a:bodyPr wrap="square" lIns="0" tIns="0" rIns="0" bIns="0" rtlCol="0" anchor="ctr"/>
          <a:lstStyle/>
          <a:p>
            <a:pPr indent="0" marL="0">
              <a:buNone/>
            </a:pPr>
            <a:r>
              <a:rPr lang="en-US" sz="1300" b="1" dirty="0">
                <a:solidFill>
                  <a:srgbClr val="EDE7E3"/>
                </a:solidFill>
                <a:latin typeface="Arial" pitchFamily="34" charset="0"/>
                <a:ea typeface="Arial" pitchFamily="34" charset="-122"/>
                <a:cs typeface="Arial" pitchFamily="34" charset="-120"/>
              </a:rPr>
              <a:t>A test that lied</a:t>
            </a:r>
            <a:endParaRPr lang="en-US" sz="1300" dirty="0"/>
          </a:p>
        </p:txBody>
      </p:sp>
      <p:sp>
        <p:nvSpPr>
          <p:cNvPr id="26" name="Text 20"/>
          <p:cNvSpPr txBox="1"/>
          <p:nvPr/>
        </p:nvSpPr>
        <p:spPr>
          <a:xfrm>
            <a:off x="4846320" y="3547872"/>
            <a:ext cx="3657600" cy="54864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A helper swapped the queued piece, not the falling one, so a combo test passed for the wrong reason. Spotted when a stronger assertion failed.</a:t>
            </a:r>
            <a:endParaRPr lang="en-US" sz="1000" dirty="0"/>
          </a:p>
        </p:txBody>
      </p:sp>
      <p:sp>
        <p:nvSpPr>
          <p:cNvPr id="27" name="Text 21"/>
          <p:cNvSpPr txBox="1"/>
          <p:nvPr/>
        </p:nvSpPr>
        <p:spPr>
          <a:xfrm>
            <a:off x="4846320" y="4069080"/>
            <a:ext cx="3657600" cy="228600"/>
          </a:xfrm>
          <a:prstGeom prst="rect">
            <a:avLst/>
          </a:prstGeom>
          <a:noFill/>
          <a:ln/>
        </p:spPr>
        <p:txBody>
          <a:bodyPr wrap="square" lIns="0" tIns="0" rIns="0" bIns="0" rtlCol="0" anchor="ctr"/>
          <a:lstStyle/>
          <a:p>
            <a:pPr indent="0" marL="0">
              <a:buNone/>
            </a:pPr>
            <a:r>
              <a:rPr lang="en-US" sz="1000" dirty="0">
                <a:solidFill>
                  <a:srgbClr val="F2C14E"/>
                </a:solidFill>
                <a:latin typeface="Calibri" pitchFamily="34" charset="0"/>
                <a:ea typeface="Calibri" pitchFamily="34" charset="-122"/>
                <a:cs typeface="Calibri" pitchFamily="34" charset="-120"/>
              </a:rPr>
              <a:t>Fix: Helper fixed, assertions tightened</a:t>
            </a:r>
            <a:endParaRPr lang="en-US" sz="1000" dirty="0"/>
          </a:p>
        </p:txBody>
      </p:sp>
      <p:sp>
        <p:nvSpPr>
          <p:cNvPr id="28" name="Text 22"/>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JUDGEMENT</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Where the AI said no, or said “not verified”</a:t>
            </a:r>
            <a:endParaRPr lang="en-US" sz="3000" dirty="0"/>
          </a:p>
        </p:txBody>
      </p:sp>
      <p:sp>
        <p:nvSpPr>
          <p:cNvPr id="4" name="Shape 2"/>
          <p:cNvSpPr/>
          <p:nvPr/>
        </p:nvSpPr>
        <p:spPr>
          <a:xfrm>
            <a:off x="457200" y="1216152"/>
            <a:ext cx="548640" cy="548640"/>
          </a:xfrm>
          <a:prstGeom prst="ellipse">
            <a:avLst/>
          </a:prstGeom>
          <a:solidFill>
            <a:srgbClr val="8C1711"/>
          </a:solidFill>
          <a:ln/>
        </p:spPr>
      </p:sp>
      <p:pic>
        <p:nvPicPr>
          <p:cNvPr id="5" name="Image 0" descr="preencoded.png">    </p:cNvPr>
          <p:cNvPicPr>
            <a:picLocks noChangeAspect="1"/>
          </p:cNvPicPr>
          <p:nvPr/>
        </p:nvPicPr>
        <p:blipFill>
          <a:blip r:embed="rId1"/>
          <a:stretch>
            <a:fillRect/>
          </a:stretch>
        </p:blipFill>
        <p:spPr>
          <a:xfrm>
            <a:off x="585216" y="1344168"/>
            <a:ext cx="292608" cy="292608"/>
          </a:xfrm>
          <a:prstGeom prst="rect">
            <a:avLst/>
          </a:prstGeom>
        </p:spPr>
      </p:pic>
      <p:sp>
        <p:nvSpPr>
          <p:cNvPr id="6" name="Text 3"/>
          <p:cNvSpPr txBox="1"/>
          <p:nvPr/>
        </p:nvSpPr>
        <p:spPr>
          <a:xfrm>
            <a:off x="1188720" y="1143000"/>
            <a:ext cx="38404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RTX Remix</a:t>
            </a:r>
            <a:endParaRPr lang="en-US" sz="1300" dirty="0"/>
          </a:p>
        </p:txBody>
      </p:sp>
      <p:sp>
        <p:nvSpPr>
          <p:cNvPr id="7" name="Text 4"/>
          <p:cNvSpPr txBox="1"/>
          <p:nvPr/>
        </p:nvSpPr>
        <p:spPr>
          <a:xfrm>
            <a:off x="1188720" y="1417320"/>
            <a:ext cx="402336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Asked for “Vulkan + RTX Remix SDK”. Explained that Remix is a Windows D3D9 runtime, built Vulkan natively, and shaped the renderer so a Remix backend is a drop-in later.</a:t>
            </a:r>
            <a:endParaRPr lang="en-US" sz="1050" dirty="0"/>
          </a:p>
        </p:txBody>
      </p:sp>
      <p:sp>
        <p:nvSpPr>
          <p:cNvPr id="8" name="Shape 5"/>
          <p:cNvSpPr/>
          <p:nvPr/>
        </p:nvSpPr>
        <p:spPr>
          <a:xfrm>
            <a:off x="457200" y="2066544"/>
            <a:ext cx="548640" cy="548640"/>
          </a:xfrm>
          <a:prstGeom prst="ellipse">
            <a:avLst/>
          </a:prstGeom>
          <a:solidFill>
            <a:srgbClr val="8C1711"/>
          </a:solidFill>
          <a:ln/>
        </p:spPr>
      </p:sp>
      <p:pic>
        <p:nvPicPr>
          <p:cNvPr id="9" name="Image 1" descr="preencoded.png">    </p:cNvPr>
          <p:cNvPicPr>
            <a:picLocks noChangeAspect="1"/>
          </p:cNvPicPr>
          <p:nvPr/>
        </p:nvPicPr>
        <p:blipFill>
          <a:blip r:embed="rId2"/>
          <a:stretch>
            <a:fillRect/>
          </a:stretch>
        </p:blipFill>
        <p:spPr>
          <a:xfrm>
            <a:off x="585216" y="2194560"/>
            <a:ext cx="292608" cy="292608"/>
          </a:xfrm>
          <a:prstGeom prst="rect">
            <a:avLst/>
          </a:prstGeom>
        </p:spPr>
      </p:pic>
      <p:sp>
        <p:nvSpPr>
          <p:cNvPr id="10" name="Text 6"/>
          <p:cNvSpPr txBox="1"/>
          <p:nvPr/>
        </p:nvSpPr>
        <p:spPr>
          <a:xfrm>
            <a:off x="1188720" y="1993392"/>
            <a:ext cx="38404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Controller support</a:t>
            </a:r>
            <a:endParaRPr lang="en-US" sz="1300" dirty="0"/>
          </a:p>
        </p:txBody>
      </p:sp>
      <p:sp>
        <p:nvSpPr>
          <p:cNvPr id="11" name="Text 7"/>
          <p:cNvSpPr txBox="1"/>
          <p:nvPr/>
        </p:nvSpPr>
        <p:spPr>
          <a:xfrm>
            <a:off x="1188720" y="2267712"/>
            <a:ext cx="402336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Implemented against SDL3's gamepad API, but no pad was attached. The report says so plainly instead of claiming it was tested.</a:t>
            </a:r>
            <a:endParaRPr lang="en-US" sz="1050" dirty="0"/>
          </a:p>
        </p:txBody>
      </p:sp>
      <p:sp>
        <p:nvSpPr>
          <p:cNvPr id="12" name="Shape 8"/>
          <p:cNvSpPr/>
          <p:nvPr/>
        </p:nvSpPr>
        <p:spPr>
          <a:xfrm>
            <a:off x="457200" y="2916936"/>
            <a:ext cx="548640" cy="548640"/>
          </a:xfrm>
          <a:prstGeom prst="ellipse">
            <a:avLst/>
          </a:prstGeom>
          <a:solidFill>
            <a:srgbClr val="8C1711"/>
          </a:solidFill>
          <a:ln/>
        </p:spPr>
      </p:sp>
      <p:pic>
        <p:nvPicPr>
          <p:cNvPr id="13" name="Image 2" descr="preencoded.png">    </p:cNvPr>
          <p:cNvPicPr>
            <a:picLocks noChangeAspect="1"/>
          </p:cNvPicPr>
          <p:nvPr/>
        </p:nvPicPr>
        <p:blipFill>
          <a:blip r:embed="rId3"/>
          <a:stretch>
            <a:fillRect/>
          </a:stretch>
        </p:blipFill>
        <p:spPr>
          <a:xfrm>
            <a:off x="585216" y="3044952"/>
            <a:ext cx="292608" cy="292608"/>
          </a:xfrm>
          <a:prstGeom prst="rect">
            <a:avLst/>
          </a:prstGeom>
        </p:spPr>
      </p:pic>
      <p:sp>
        <p:nvSpPr>
          <p:cNvPr id="14" name="Text 9"/>
          <p:cNvSpPr txBox="1"/>
          <p:nvPr/>
        </p:nvSpPr>
        <p:spPr>
          <a:xfrm>
            <a:off x="1188720" y="2843784"/>
            <a:ext cx="38404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Things it cannot do</a:t>
            </a:r>
            <a:endParaRPr lang="en-US" sz="1300" dirty="0"/>
          </a:p>
        </p:txBody>
      </p:sp>
      <p:sp>
        <p:nvSpPr>
          <p:cNvPr id="15" name="Text 10"/>
          <p:cNvSpPr txBox="1"/>
          <p:nvPr/>
        </p:nvSpPr>
        <p:spPr>
          <a:xfrm>
            <a:off x="1188720" y="3118104"/>
            <a:ext cx="402336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Installing a soundfont needs sudo. It gave the one-line command and built the no-dependency route so music worked immediately anyway.</a:t>
            </a:r>
            <a:endParaRPr lang="en-US" sz="1050" dirty="0"/>
          </a:p>
        </p:txBody>
      </p:sp>
      <p:sp>
        <p:nvSpPr>
          <p:cNvPr id="16" name="Shape 11"/>
          <p:cNvSpPr/>
          <p:nvPr/>
        </p:nvSpPr>
        <p:spPr>
          <a:xfrm>
            <a:off x="457200" y="3767328"/>
            <a:ext cx="548640" cy="548640"/>
          </a:xfrm>
          <a:prstGeom prst="ellipse">
            <a:avLst/>
          </a:prstGeom>
          <a:solidFill>
            <a:srgbClr val="8C1711"/>
          </a:solidFill>
          <a:ln/>
        </p:spPr>
      </p:sp>
      <p:pic>
        <p:nvPicPr>
          <p:cNvPr id="17" name="Image 3" descr="preencoded.png">    </p:cNvPr>
          <p:cNvPicPr>
            <a:picLocks noChangeAspect="1"/>
          </p:cNvPicPr>
          <p:nvPr/>
        </p:nvPicPr>
        <p:blipFill>
          <a:blip r:embed="rId4"/>
          <a:stretch>
            <a:fillRect/>
          </a:stretch>
        </p:blipFill>
        <p:spPr>
          <a:xfrm>
            <a:off x="585216" y="3895344"/>
            <a:ext cx="292608" cy="292608"/>
          </a:xfrm>
          <a:prstGeom prst="rect">
            <a:avLst/>
          </a:prstGeom>
        </p:spPr>
      </p:pic>
      <p:sp>
        <p:nvSpPr>
          <p:cNvPr id="18" name="Text 12"/>
          <p:cNvSpPr txBox="1"/>
          <p:nvPr/>
        </p:nvSpPr>
        <p:spPr>
          <a:xfrm>
            <a:off x="1188720" y="3694176"/>
            <a:ext cx="3840480" cy="274320"/>
          </a:xfrm>
          <a:prstGeom prst="rect">
            <a:avLst/>
          </a:prstGeom>
          <a:noFill/>
          <a:ln/>
        </p:spPr>
        <p:txBody>
          <a:bodyPr wrap="square" lIns="0" tIns="0" rIns="0" bIns="0" rtlCol="0" anchor="ctr"/>
          <a:lstStyle/>
          <a:p>
            <a:pPr indent="0" marL="0">
              <a:buNone/>
            </a:pPr>
            <a:r>
              <a:rPr lang="en-US" sz="1300" b="1" dirty="0">
                <a:solidFill>
                  <a:srgbClr val="F2C14E"/>
                </a:solidFill>
                <a:latin typeface="Arial" pitchFamily="34" charset="0"/>
                <a:ea typeface="Arial" pitchFamily="34" charset="-122"/>
                <a:cs typeface="Arial" pitchFamily="34" charset="-120"/>
              </a:rPr>
              <a:t>Design calls</a:t>
            </a:r>
            <a:endParaRPr lang="en-US" sz="1300" dirty="0"/>
          </a:p>
        </p:txBody>
      </p:sp>
      <p:sp>
        <p:nvSpPr>
          <p:cNvPr id="19" name="Text 13"/>
          <p:cNvSpPr txBox="1"/>
          <p:nvPr/>
        </p:nvSpPr>
        <p:spPr>
          <a:xfrm>
            <a:off x="1188720" y="3968496"/>
            <a:ext cx="402336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Interpretations that changed gameplay (tipping the board, what “surround” means) were stated as assumptions and revised when the user clarified.</a:t>
            </a:r>
            <a:endParaRPr lang="en-US" sz="1050" dirty="0"/>
          </a:p>
        </p:txBody>
      </p:sp>
      <p:sp>
        <p:nvSpPr>
          <p:cNvPr id="20" name="Shape 14"/>
          <p:cNvSpPr/>
          <p:nvPr/>
        </p:nvSpPr>
        <p:spPr>
          <a:xfrm>
            <a:off x="5532120" y="1188720"/>
            <a:ext cx="3200400" cy="1840230"/>
          </a:xfrm>
          <a:prstGeom prst="roundRect">
            <a:avLst>
              <a:gd name="adj" fmla="val 3975"/>
            </a:avLst>
          </a:prstGeom>
          <a:solidFill>
            <a:srgbClr val="221F28"/>
          </a:solidFill>
          <a:ln w="12700">
            <a:solidFill>
              <a:srgbClr val="8C1711"/>
            </a:solidFill>
            <a:prstDash val="solid"/>
          </a:ln>
          <a:effectLst>
            <a:outerShdw sx="100000" sy="100000" kx="0" ky="0" algn="bl" rotWithShape="0" blurRad="152400" dist="50800" dir="16200000">
              <a:srgbClr val="D7261E">
                <a:alpha val="35000"/>
              </a:srgbClr>
            </a:outerShdw>
          </a:effectLst>
        </p:spPr>
      </p:sp>
      <p:pic>
        <p:nvPicPr>
          <p:cNvPr id="21" name="Image 4" descr="/tmp/claude-1000/-home-davidj-Claude-Data/52a1801d-3e32-4d0a-8d76-a2b84efc293f/scratchpad/deck/shots/shot_options.jpg">    </p:cNvPr>
          <p:cNvPicPr>
            <a:picLocks noChangeAspect="1"/>
          </p:cNvPicPr>
          <p:nvPr/>
        </p:nvPicPr>
        <p:blipFill>
          <a:blip r:embed="rId5"/>
          <a:stretch>
            <a:fillRect/>
          </a:stretch>
        </p:blipFill>
        <p:spPr>
          <a:xfrm>
            <a:off x="5577840" y="1234440"/>
            <a:ext cx="3108960" cy="1748790"/>
          </a:xfrm>
          <a:prstGeom prst="rect">
            <a:avLst/>
          </a:prstGeom>
        </p:spPr>
      </p:pic>
      <p:sp>
        <p:nvSpPr>
          <p:cNvPr id="22" name="Text 15"/>
          <p:cNvSpPr txBox="1"/>
          <p:nvPr/>
        </p:nvSpPr>
        <p:spPr>
          <a:xfrm>
            <a:off x="5577840" y="3063240"/>
            <a:ext cx="3108960" cy="502920"/>
          </a:xfrm>
          <a:prstGeom prst="rect">
            <a:avLst/>
          </a:prstGeom>
          <a:noFill/>
          <a:ln/>
        </p:spPr>
        <p:txBody>
          <a:bodyPr wrap="square" lIns="0" tIns="0" rIns="0" bIns="0" rtlCol="0" anchor="t"/>
          <a:lstStyle/>
          <a:p>
            <a:pPr indent="0" marL="0">
              <a:buNone/>
            </a:pPr>
            <a:r>
              <a:rPr lang="en-US" sz="950" i="1" dirty="0">
                <a:solidFill>
                  <a:srgbClr val="A39E99"/>
                </a:solidFill>
                <a:latin typeface="Calibri" pitchFamily="34" charset="0"/>
                <a:ea typeface="Calibri" pitchFamily="34" charset="-122"/>
                <a:cs typeface="Calibri" pitchFamily="34" charset="-120"/>
              </a:rPr>
              <a:t>Options screen: music sets, controller settings, display modes, all persisted per player or per machine.</a:t>
            </a:r>
            <a:endParaRPr lang="en-US" sz="950" dirty="0"/>
          </a:p>
        </p:txBody>
      </p:sp>
      <p:sp>
        <p:nvSpPr>
          <p:cNvPr id="23" name="Text 16"/>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WHAT GOT BUILT</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Architecture and where the lines went</a:t>
            </a:r>
            <a:endParaRPr lang="en-US" sz="3000" dirty="0"/>
          </a:p>
        </p:txBody>
      </p:sp>
      <p:graphicFrame>
        <p:nvGraphicFramePr>
          <p:cNvPr id="4" name="Chart 0" descr=""/>
          <p:cNvGraphicFramePr/>
          <p:nvPr/>
        </p:nvGraphicFramePr>
        <p:xfrm>
          <a:off x="457200" y="1097280"/>
          <a:ext cx="448056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303520" y="1188720"/>
            <a:ext cx="914400" cy="274320"/>
          </a:xfrm>
          <a:prstGeom prst="rect">
            <a:avLst/>
          </a:prstGeom>
          <a:noFill/>
          <a:ln/>
        </p:spPr>
        <p:txBody>
          <a:bodyPr wrap="square" lIns="0" tIns="0" rIns="0" bIns="0" rtlCol="0" anchor="ctr"/>
          <a:lstStyle/>
          <a:p>
            <a:pPr indent="0" marL="0">
              <a:buNone/>
            </a:pPr>
            <a:r>
              <a:rPr lang="en-US" sz="1200" b="1" dirty="0">
                <a:solidFill>
                  <a:srgbClr val="F2C14E"/>
                </a:solidFill>
                <a:latin typeface="Courier New" pitchFamily="34" charset="0"/>
                <a:ea typeface="Courier New" pitchFamily="34" charset="-122"/>
                <a:cs typeface="Courier New" pitchFamily="34" charset="-120"/>
              </a:rPr>
              <a:t>core</a:t>
            </a:r>
            <a:endParaRPr lang="en-US" sz="1200" dirty="0"/>
          </a:p>
        </p:txBody>
      </p:sp>
      <p:sp>
        <p:nvSpPr>
          <p:cNvPr id="6" name="Text 3"/>
          <p:cNvSpPr txBox="1"/>
          <p:nvPr/>
        </p:nvSpPr>
        <p:spPr>
          <a:xfrm>
            <a:off x="6217920" y="1188720"/>
            <a:ext cx="246888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Rules engine, image and PNG helpers. No dependencies.</a:t>
            </a:r>
            <a:endParaRPr lang="en-US" sz="1050" dirty="0"/>
          </a:p>
        </p:txBody>
      </p:sp>
      <p:sp>
        <p:nvSpPr>
          <p:cNvPr id="7" name="Text 4"/>
          <p:cNvSpPr txBox="1"/>
          <p:nvPr/>
        </p:nvSpPr>
        <p:spPr>
          <a:xfrm>
            <a:off x="5303520" y="1847088"/>
            <a:ext cx="914400" cy="274320"/>
          </a:xfrm>
          <a:prstGeom prst="rect">
            <a:avLst/>
          </a:prstGeom>
          <a:noFill/>
          <a:ln/>
        </p:spPr>
        <p:txBody>
          <a:bodyPr wrap="square" lIns="0" tIns="0" rIns="0" bIns="0" rtlCol="0" anchor="ctr"/>
          <a:lstStyle/>
          <a:p>
            <a:pPr indent="0" marL="0">
              <a:buNone/>
            </a:pPr>
            <a:r>
              <a:rPr lang="en-US" sz="1200" b="1" dirty="0">
                <a:solidFill>
                  <a:srgbClr val="F2C14E"/>
                </a:solidFill>
                <a:latin typeface="Courier New" pitchFamily="34" charset="0"/>
                <a:ea typeface="Courier New" pitchFamily="34" charset="-122"/>
                <a:cs typeface="Courier New" pitchFamily="34" charset="-120"/>
              </a:rPr>
              <a:t>wad</a:t>
            </a:r>
            <a:endParaRPr lang="en-US" sz="1200" dirty="0"/>
          </a:p>
        </p:txBody>
      </p:sp>
      <p:sp>
        <p:nvSpPr>
          <p:cNvPr id="8" name="Text 5"/>
          <p:cNvSpPr txBox="1"/>
          <p:nvPr/>
        </p:nvSpPr>
        <p:spPr>
          <a:xfrm>
            <a:off x="6217920" y="1847088"/>
            <a:ext cx="246888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Doom WAD reader: patches, sprites, textures, fonts, DMX sounds.</a:t>
            </a:r>
            <a:endParaRPr lang="en-US" sz="1050" dirty="0"/>
          </a:p>
        </p:txBody>
      </p:sp>
      <p:sp>
        <p:nvSpPr>
          <p:cNvPr id="9" name="Text 6"/>
          <p:cNvSpPr txBox="1"/>
          <p:nvPr/>
        </p:nvSpPr>
        <p:spPr>
          <a:xfrm>
            <a:off x="5303520" y="2505456"/>
            <a:ext cx="914400" cy="274320"/>
          </a:xfrm>
          <a:prstGeom prst="rect">
            <a:avLst/>
          </a:prstGeom>
          <a:noFill/>
          <a:ln/>
        </p:spPr>
        <p:txBody>
          <a:bodyPr wrap="square" lIns="0" tIns="0" rIns="0" bIns="0" rtlCol="0" anchor="ctr"/>
          <a:lstStyle/>
          <a:p>
            <a:pPr indent="0" marL="0">
              <a:buNone/>
            </a:pPr>
            <a:r>
              <a:rPr lang="en-US" sz="1200" b="1" dirty="0">
                <a:solidFill>
                  <a:srgbClr val="F2C14E"/>
                </a:solidFill>
                <a:latin typeface="Courier New" pitchFamily="34" charset="0"/>
                <a:ea typeface="Courier New" pitchFamily="34" charset="-122"/>
                <a:cs typeface="Courier New" pitchFamily="34" charset="-120"/>
              </a:rPr>
              <a:t>render</a:t>
            </a:r>
            <a:endParaRPr lang="en-US" sz="1200" dirty="0"/>
          </a:p>
        </p:txBody>
      </p:sp>
      <p:sp>
        <p:nvSpPr>
          <p:cNvPr id="10" name="Text 7"/>
          <p:cNvSpPr txBox="1"/>
          <p:nvPr/>
        </p:nvSpPr>
        <p:spPr>
          <a:xfrm>
            <a:off x="6217920" y="2505456"/>
            <a:ext cx="246888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Vulkan 1.3 context, atlas packer, instanced renderer.</a:t>
            </a:r>
            <a:endParaRPr lang="en-US" sz="1050" dirty="0"/>
          </a:p>
        </p:txBody>
      </p:sp>
      <p:sp>
        <p:nvSpPr>
          <p:cNvPr id="11" name="Text 8"/>
          <p:cNvSpPr txBox="1"/>
          <p:nvPr/>
        </p:nvSpPr>
        <p:spPr>
          <a:xfrm>
            <a:off x="5303520" y="3163824"/>
            <a:ext cx="914400" cy="274320"/>
          </a:xfrm>
          <a:prstGeom prst="rect">
            <a:avLst/>
          </a:prstGeom>
          <a:noFill/>
          <a:ln/>
        </p:spPr>
        <p:txBody>
          <a:bodyPr wrap="square" lIns="0" tIns="0" rIns="0" bIns="0" rtlCol="0" anchor="ctr"/>
          <a:lstStyle/>
          <a:p>
            <a:pPr indent="0" marL="0">
              <a:buNone/>
            </a:pPr>
            <a:r>
              <a:rPr lang="en-US" sz="1200" b="1" dirty="0">
                <a:solidFill>
                  <a:srgbClr val="F2C14E"/>
                </a:solidFill>
                <a:latin typeface="Courier New" pitchFamily="34" charset="0"/>
                <a:ea typeface="Courier New" pitchFamily="34" charset="-122"/>
                <a:cs typeface="Courier New" pitchFamily="34" charset="-120"/>
              </a:rPr>
              <a:t>audio</a:t>
            </a:r>
            <a:endParaRPr lang="en-US" sz="1200" dirty="0"/>
          </a:p>
        </p:txBody>
      </p:sp>
      <p:sp>
        <p:nvSpPr>
          <p:cNvPr id="12" name="Text 9"/>
          <p:cNvSpPr txBox="1"/>
          <p:nvPr/>
        </p:nvSpPr>
        <p:spPr>
          <a:xfrm>
            <a:off x="6217920" y="3163824"/>
            <a:ext cx="246888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SDL3 mixer, MUS sequencer, GENMIDI, OPL3 emulator, Ogg streaming.</a:t>
            </a:r>
            <a:endParaRPr lang="en-US" sz="1050" dirty="0"/>
          </a:p>
        </p:txBody>
      </p:sp>
      <p:sp>
        <p:nvSpPr>
          <p:cNvPr id="13" name="Text 10"/>
          <p:cNvSpPr txBox="1"/>
          <p:nvPr/>
        </p:nvSpPr>
        <p:spPr>
          <a:xfrm>
            <a:off x="5303520" y="3822192"/>
            <a:ext cx="914400" cy="274320"/>
          </a:xfrm>
          <a:prstGeom prst="rect">
            <a:avLst/>
          </a:prstGeom>
          <a:noFill/>
          <a:ln/>
        </p:spPr>
        <p:txBody>
          <a:bodyPr wrap="square" lIns="0" tIns="0" rIns="0" bIns="0" rtlCol="0" anchor="ctr"/>
          <a:lstStyle/>
          <a:p>
            <a:pPr indent="0" marL="0">
              <a:buNone/>
            </a:pPr>
            <a:r>
              <a:rPr lang="en-US" sz="1200" b="1" dirty="0">
                <a:solidFill>
                  <a:srgbClr val="F2C14E"/>
                </a:solidFill>
                <a:latin typeface="Courier New" pitchFamily="34" charset="0"/>
                <a:ea typeface="Courier New" pitchFamily="34" charset="-122"/>
                <a:cs typeface="Courier New" pitchFamily="34" charset="-120"/>
              </a:rPr>
              <a:t>game</a:t>
            </a:r>
            <a:endParaRPr lang="en-US" sz="1200" dirty="0"/>
          </a:p>
        </p:txBody>
      </p:sp>
      <p:sp>
        <p:nvSpPr>
          <p:cNvPr id="14" name="Text 11"/>
          <p:cNvSpPr txBox="1"/>
          <p:nvPr/>
        </p:nvSpPr>
        <p:spPr>
          <a:xfrm>
            <a:off x="6217920" y="3822192"/>
            <a:ext cx="2468880" cy="566928"/>
          </a:xfrm>
          <a:prstGeom prst="rect">
            <a:avLst/>
          </a:prstGeom>
          <a:noFill/>
          <a:ln/>
        </p:spPr>
        <p:txBody>
          <a:bodyPr wrap="square" lIns="0" tIns="0" rIns="0" bIns="0" rtlCol="0" anchor="t"/>
          <a:lstStyle/>
          <a:p>
            <a:pPr indent="0" marL="0">
              <a:buNone/>
            </a:pPr>
            <a:r>
              <a:rPr lang="en-US" sz="1050" dirty="0">
                <a:solidFill>
                  <a:srgbClr val="EDE7E3"/>
                </a:solidFill>
                <a:latin typeface="Calibri" pitchFamily="34" charset="0"/>
                <a:ea typeface="Calibri" pitchFamily="34" charset="-122"/>
                <a:cs typeface="Calibri" pitchFamily="34" charset="-120"/>
              </a:rPr>
              <a:t>Assets, FPS simulation, app state machine, HUD, profiles, trophies.</a:t>
            </a:r>
            <a:endParaRPr lang="en-US" sz="1050" dirty="0"/>
          </a:p>
        </p:txBody>
      </p:sp>
      <p:sp>
        <p:nvSpPr>
          <p:cNvPr id="15" name="Text 12"/>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A0F"/>
        </a:solidFill>
      </p:bgPr>
    </p:bg>
    <p:spTree>
      <p:nvGrpSpPr>
        <p:cNvPr id="1" name=""/>
        <p:cNvGrpSpPr/>
        <p:nvPr/>
      </p:nvGrpSpPr>
      <p:grpSpPr>
        <a:xfrm>
          <a:off x="0" y="0"/>
          <a:ext cx="0" cy="0"/>
          <a:chOff x="0" y="0"/>
          <a:chExt cx="0" cy="0"/>
        </a:xfrm>
      </p:grpSpPr>
      <p:sp>
        <p:nvSpPr>
          <p:cNvPr id="2" name="Text 0"/>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100" b="1" spc="400" kern="0" dirty="0">
                <a:solidFill>
                  <a:srgbClr val="D7261E"/>
                </a:solidFill>
                <a:latin typeface="Calibri" pitchFamily="34" charset="0"/>
                <a:ea typeface="Calibri" pitchFamily="34" charset="-122"/>
                <a:cs typeface="Calibri" pitchFamily="34" charset="-120"/>
              </a:rPr>
              <a:t>TAKEAWAYS</a:t>
            </a:r>
            <a:endParaRPr lang="en-US" sz="1100" dirty="0"/>
          </a:p>
        </p:txBody>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EDE7E3"/>
                </a:solidFill>
                <a:latin typeface="Arial" pitchFamily="34" charset="0"/>
                <a:ea typeface="Arial" pitchFamily="34" charset="-122"/>
                <a:cs typeface="Arial" pitchFamily="34" charset="-120"/>
              </a:rPr>
              <a:t>What to copy into your own AI-assisted work</a:t>
            </a:r>
            <a:endParaRPr lang="en-US" sz="3000" dirty="0"/>
          </a:p>
        </p:txBody>
      </p:sp>
      <p:sp>
        <p:nvSpPr>
          <p:cNvPr id="4" name="Shape 2"/>
          <p:cNvSpPr/>
          <p:nvPr/>
        </p:nvSpPr>
        <p:spPr>
          <a:xfrm>
            <a:off x="457200" y="1143000"/>
            <a:ext cx="2606040" cy="1508760"/>
          </a:xfrm>
          <a:prstGeom prst="roundRect">
            <a:avLst>
              <a:gd name="adj" fmla="val 6061"/>
            </a:avLst>
          </a:prstGeom>
          <a:solidFill>
            <a:srgbClr val="17151C"/>
          </a:solidFill>
          <a:ln w="12700">
            <a:solidFill>
              <a:srgbClr val="221F28"/>
            </a:solidFill>
            <a:prstDash val="solid"/>
          </a:ln>
        </p:spPr>
      </p:sp>
      <p:sp>
        <p:nvSpPr>
          <p:cNvPr id="5" name="Shape 3"/>
          <p:cNvSpPr/>
          <p:nvPr/>
        </p:nvSpPr>
        <p:spPr>
          <a:xfrm>
            <a:off x="640080" y="1307592"/>
            <a:ext cx="457200" cy="457200"/>
          </a:xfrm>
          <a:prstGeom prst="ellipse">
            <a:avLst/>
          </a:prstGeom>
          <a:solidFill>
            <a:srgbClr val="8C1711"/>
          </a:solidFill>
          <a:ln/>
        </p:spPr>
      </p:sp>
      <p:pic>
        <p:nvPicPr>
          <p:cNvPr id="6" name="Image 0" descr="preencoded.png">    </p:cNvPr>
          <p:cNvPicPr>
            <a:picLocks noChangeAspect="1"/>
          </p:cNvPicPr>
          <p:nvPr/>
        </p:nvPicPr>
        <p:blipFill>
          <a:blip r:embed="rId1"/>
          <a:stretch>
            <a:fillRect/>
          </a:stretch>
        </p:blipFill>
        <p:spPr>
          <a:xfrm>
            <a:off x="740664" y="1408176"/>
            <a:ext cx="256032" cy="256032"/>
          </a:xfrm>
          <a:prstGeom prst="rect">
            <a:avLst/>
          </a:prstGeom>
        </p:spPr>
      </p:pic>
      <p:sp>
        <p:nvSpPr>
          <p:cNvPr id="7" name="Text 4"/>
          <p:cNvSpPr txBox="1"/>
          <p:nvPr/>
        </p:nvSpPr>
        <p:spPr>
          <a:xfrm>
            <a:off x="1234440" y="128016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Write the contract down</a:t>
            </a:r>
            <a:endParaRPr lang="en-US" sz="1200" dirty="0"/>
          </a:p>
        </p:txBody>
      </p:sp>
      <p:sp>
        <p:nvSpPr>
          <p:cNvPr id="8" name="Text 5"/>
          <p:cNvSpPr txBox="1"/>
          <p:nvPr/>
        </p:nvSpPr>
        <p:spPr>
          <a:xfrm>
            <a:off x="640080" y="185623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Interfaces, formats and edge cases in prose before code. It is what makes delegation and review possible.</a:t>
            </a:r>
            <a:endParaRPr lang="en-US" sz="1000" dirty="0"/>
          </a:p>
        </p:txBody>
      </p:sp>
      <p:sp>
        <p:nvSpPr>
          <p:cNvPr id="9" name="Shape 6"/>
          <p:cNvSpPr/>
          <p:nvPr/>
        </p:nvSpPr>
        <p:spPr>
          <a:xfrm>
            <a:off x="3246120" y="1143000"/>
            <a:ext cx="2606040" cy="1508760"/>
          </a:xfrm>
          <a:prstGeom prst="roundRect">
            <a:avLst>
              <a:gd name="adj" fmla="val 6061"/>
            </a:avLst>
          </a:prstGeom>
          <a:solidFill>
            <a:srgbClr val="17151C"/>
          </a:solidFill>
          <a:ln w="12700">
            <a:solidFill>
              <a:srgbClr val="221F28"/>
            </a:solidFill>
            <a:prstDash val="solid"/>
          </a:ln>
        </p:spPr>
      </p:sp>
      <p:sp>
        <p:nvSpPr>
          <p:cNvPr id="10" name="Shape 7"/>
          <p:cNvSpPr/>
          <p:nvPr/>
        </p:nvSpPr>
        <p:spPr>
          <a:xfrm>
            <a:off x="3429000" y="1307592"/>
            <a:ext cx="457200" cy="457200"/>
          </a:xfrm>
          <a:prstGeom prst="ellipse">
            <a:avLst/>
          </a:prstGeom>
          <a:solidFill>
            <a:srgbClr val="8C1711"/>
          </a:solidFill>
          <a:ln/>
        </p:spPr>
      </p:sp>
      <p:pic>
        <p:nvPicPr>
          <p:cNvPr id="11" name="Image 1" descr="preencoded.png">    </p:cNvPr>
          <p:cNvPicPr>
            <a:picLocks noChangeAspect="1"/>
          </p:cNvPicPr>
          <p:nvPr/>
        </p:nvPicPr>
        <p:blipFill>
          <a:blip r:embed="rId2"/>
          <a:stretch>
            <a:fillRect/>
          </a:stretch>
        </p:blipFill>
        <p:spPr>
          <a:xfrm>
            <a:off x="3529584" y="1408176"/>
            <a:ext cx="256032" cy="256032"/>
          </a:xfrm>
          <a:prstGeom prst="rect">
            <a:avLst/>
          </a:prstGeom>
        </p:spPr>
      </p:pic>
      <p:sp>
        <p:nvSpPr>
          <p:cNvPr id="12" name="Text 8"/>
          <p:cNvSpPr txBox="1"/>
          <p:nvPr/>
        </p:nvSpPr>
        <p:spPr>
          <a:xfrm>
            <a:off x="4023360" y="128016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Tests are the memory</a:t>
            </a:r>
            <a:endParaRPr lang="en-US" sz="1200" dirty="0"/>
          </a:p>
        </p:txBody>
      </p:sp>
      <p:sp>
        <p:nvSpPr>
          <p:cNvPr id="13" name="Text 9"/>
          <p:cNvSpPr txBox="1"/>
          <p:nvPr/>
        </p:nvSpPr>
        <p:spPr>
          <a:xfrm>
            <a:off x="3429000" y="185623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Every rule the user cares about becomes a check. Corrections become tests first.</a:t>
            </a:r>
            <a:endParaRPr lang="en-US" sz="1000" dirty="0"/>
          </a:p>
        </p:txBody>
      </p:sp>
      <p:sp>
        <p:nvSpPr>
          <p:cNvPr id="14" name="Shape 10"/>
          <p:cNvSpPr/>
          <p:nvPr/>
        </p:nvSpPr>
        <p:spPr>
          <a:xfrm>
            <a:off x="6035040" y="1143000"/>
            <a:ext cx="2606040" cy="1508760"/>
          </a:xfrm>
          <a:prstGeom prst="roundRect">
            <a:avLst>
              <a:gd name="adj" fmla="val 6061"/>
            </a:avLst>
          </a:prstGeom>
          <a:solidFill>
            <a:srgbClr val="17151C"/>
          </a:solidFill>
          <a:ln w="12700">
            <a:solidFill>
              <a:srgbClr val="221F28"/>
            </a:solidFill>
            <a:prstDash val="solid"/>
          </a:ln>
        </p:spPr>
      </p:sp>
      <p:sp>
        <p:nvSpPr>
          <p:cNvPr id="15" name="Shape 11"/>
          <p:cNvSpPr/>
          <p:nvPr/>
        </p:nvSpPr>
        <p:spPr>
          <a:xfrm>
            <a:off x="6217920" y="1307592"/>
            <a:ext cx="457200" cy="457200"/>
          </a:xfrm>
          <a:prstGeom prst="ellipse">
            <a:avLst/>
          </a:prstGeom>
          <a:solidFill>
            <a:srgbClr val="8C1711"/>
          </a:solidFill>
          <a:ln/>
        </p:spPr>
      </p:sp>
      <p:pic>
        <p:nvPicPr>
          <p:cNvPr id="16" name="Image 2" descr="preencoded.png">    </p:cNvPr>
          <p:cNvPicPr>
            <a:picLocks noChangeAspect="1"/>
          </p:cNvPicPr>
          <p:nvPr/>
        </p:nvPicPr>
        <p:blipFill>
          <a:blip r:embed="rId3"/>
          <a:stretch>
            <a:fillRect/>
          </a:stretch>
        </p:blipFill>
        <p:spPr>
          <a:xfrm>
            <a:off x="6318504" y="1408176"/>
            <a:ext cx="256032" cy="256032"/>
          </a:xfrm>
          <a:prstGeom prst="rect">
            <a:avLst/>
          </a:prstGeom>
        </p:spPr>
      </p:pic>
      <p:sp>
        <p:nvSpPr>
          <p:cNvPr id="17" name="Text 12"/>
          <p:cNvSpPr txBox="1"/>
          <p:nvPr/>
        </p:nvSpPr>
        <p:spPr>
          <a:xfrm>
            <a:off x="6812280" y="128016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Give the program ways to prove itself</a:t>
            </a:r>
            <a:endParaRPr lang="en-US" sz="1200" dirty="0"/>
          </a:p>
        </p:txBody>
      </p:sp>
      <p:sp>
        <p:nvSpPr>
          <p:cNvPr id="18" name="Text 13"/>
          <p:cNvSpPr txBox="1"/>
          <p:nvPr/>
        </p:nvSpPr>
        <p:spPr>
          <a:xfrm>
            <a:off x="6217920" y="185623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Scenarios, bots, screenshot flags, dumps. If the AI can't observe it, it can't verify it.</a:t>
            </a:r>
            <a:endParaRPr lang="en-US" sz="1000" dirty="0"/>
          </a:p>
        </p:txBody>
      </p:sp>
      <p:sp>
        <p:nvSpPr>
          <p:cNvPr id="19" name="Shape 14"/>
          <p:cNvSpPr/>
          <p:nvPr/>
        </p:nvSpPr>
        <p:spPr>
          <a:xfrm>
            <a:off x="457200" y="2834640"/>
            <a:ext cx="2606040" cy="1508760"/>
          </a:xfrm>
          <a:prstGeom prst="roundRect">
            <a:avLst>
              <a:gd name="adj" fmla="val 6061"/>
            </a:avLst>
          </a:prstGeom>
          <a:solidFill>
            <a:srgbClr val="17151C"/>
          </a:solidFill>
          <a:ln w="12700">
            <a:solidFill>
              <a:srgbClr val="221F28"/>
            </a:solidFill>
            <a:prstDash val="solid"/>
          </a:ln>
        </p:spPr>
      </p:sp>
      <p:sp>
        <p:nvSpPr>
          <p:cNvPr id="20" name="Shape 15"/>
          <p:cNvSpPr/>
          <p:nvPr/>
        </p:nvSpPr>
        <p:spPr>
          <a:xfrm>
            <a:off x="640080" y="2999232"/>
            <a:ext cx="457200" cy="457200"/>
          </a:xfrm>
          <a:prstGeom prst="ellipse">
            <a:avLst/>
          </a:prstGeom>
          <a:solidFill>
            <a:srgbClr val="8C1711"/>
          </a:solidFill>
          <a:ln/>
        </p:spPr>
      </p:sp>
      <p:pic>
        <p:nvPicPr>
          <p:cNvPr id="21" name="Image 3" descr="preencoded.png">    </p:cNvPr>
          <p:cNvPicPr>
            <a:picLocks noChangeAspect="1"/>
          </p:cNvPicPr>
          <p:nvPr/>
        </p:nvPicPr>
        <p:blipFill>
          <a:blip r:embed="rId4"/>
          <a:stretch>
            <a:fillRect/>
          </a:stretch>
        </p:blipFill>
        <p:spPr>
          <a:xfrm>
            <a:off x="740664" y="3099816"/>
            <a:ext cx="256032" cy="256032"/>
          </a:xfrm>
          <a:prstGeom prst="rect">
            <a:avLst/>
          </a:prstGeom>
        </p:spPr>
      </p:pic>
      <p:sp>
        <p:nvSpPr>
          <p:cNvPr id="22" name="Text 16"/>
          <p:cNvSpPr txBox="1"/>
          <p:nvPr/>
        </p:nvSpPr>
        <p:spPr>
          <a:xfrm>
            <a:off x="1234440" y="297180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Small commits, real messages</a:t>
            </a:r>
            <a:endParaRPr lang="en-US" sz="1200" dirty="0"/>
          </a:p>
        </p:txBody>
      </p:sp>
      <p:sp>
        <p:nvSpPr>
          <p:cNvPr id="23" name="Text 17"/>
          <p:cNvSpPr txBox="1"/>
          <p:nvPr/>
        </p:nvSpPr>
        <p:spPr>
          <a:xfrm>
            <a:off x="640080" y="354787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Each increment playable; the history reads as the story of the design.</a:t>
            </a:r>
            <a:endParaRPr lang="en-US" sz="1000" dirty="0"/>
          </a:p>
        </p:txBody>
      </p:sp>
      <p:sp>
        <p:nvSpPr>
          <p:cNvPr id="24" name="Shape 18"/>
          <p:cNvSpPr/>
          <p:nvPr/>
        </p:nvSpPr>
        <p:spPr>
          <a:xfrm>
            <a:off x="3246120" y="2834640"/>
            <a:ext cx="2606040" cy="1508760"/>
          </a:xfrm>
          <a:prstGeom prst="roundRect">
            <a:avLst>
              <a:gd name="adj" fmla="val 6061"/>
            </a:avLst>
          </a:prstGeom>
          <a:solidFill>
            <a:srgbClr val="17151C"/>
          </a:solidFill>
          <a:ln w="12700">
            <a:solidFill>
              <a:srgbClr val="221F28"/>
            </a:solidFill>
            <a:prstDash val="solid"/>
          </a:ln>
        </p:spPr>
      </p:sp>
      <p:sp>
        <p:nvSpPr>
          <p:cNvPr id="25" name="Shape 19"/>
          <p:cNvSpPr/>
          <p:nvPr/>
        </p:nvSpPr>
        <p:spPr>
          <a:xfrm>
            <a:off x="3429000" y="2999232"/>
            <a:ext cx="457200" cy="457200"/>
          </a:xfrm>
          <a:prstGeom prst="ellipse">
            <a:avLst/>
          </a:prstGeom>
          <a:solidFill>
            <a:srgbClr val="8C1711"/>
          </a:solidFill>
          <a:ln/>
        </p:spPr>
      </p:sp>
      <p:pic>
        <p:nvPicPr>
          <p:cNvPr id="26" name="Image 4" descr="preencoded.png">    </p:cNvPr>
          <p:cNvPicPr>
            <a:picLocks noChangeAspect="1"/>
          </p:cNvPicPr>
          <p:nvPr/>
        </p:nvPicPr>
        <p:blipFill>
          <a:blip r:embed="rId5"/>
          <a:stretch>
            <a:fillRect/>
          </a:stretch>
        </p:blipFill>
        <p:spPr>
          <a:xfrm>
            <a:off x="3529584" y="3099816"/>
            <a:ext cx="256032" cy="256032"/>
          </a:xfrm>
          <a:prstGeom prst="rect">
            <a:avLst/>
          </a:prstGeom>
        </p:spPr>
      </p:pic>
      <p:sp>
        <p:nvSpPr>
          <p:cNvPr id="27" name="Text 20"/>
          <p:cNvSpPr txBox="1"/>
          <p:nvPr/>
        </p:nvSpPr>
        <p:spPr>
          <a:xfrm>
            <a:off x="4023360" y="297180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Demand the honesty line</a:t>
            </a:r>
            <a:endParaRPr lang="en-US" sz="1200" dirty="0"/>
          </a:p>
        </p:txBody>
      </p:sp>
      <p:sp>
        <p:nvSpPr>
          <p:cNvPr id="28" name="Text 21"/>
          <p:cNvSpPr txBox="1"/>
          <p:nvPr/>
        </p:nvSpPr>
        <p:spPr>
          <a:xfrm>
            <a:off x="3429000" y="354787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Done, verified, and unverified are three different words. Insist on all three.</a:t>
            </a:r>
            <a:endParaRPr lang="en-US" sz="1000" dirty="0"/>
          </a:p>
        </p:txBody>
      </p:sp>
      <p:sp>
        <p:nvSpPr>
          <p:cNvPr id="29" name="Shape 22"/>
          <p:cNvSpPr/>
          <p:nvPr/>
        </p:nvSpPr>
        <p:spPr>
          <a:xfrm>
            <a:off x="6035040" y="2834640"/>
            <a:ext cx="2606040" cy="1508760"/>
          </a:xfrm>
          <a:prstGeom prst="roundRect">
            <a:avLst>
              <a:gd name="adj" fmla="val 6061"/>
            </a:avLst>
          </a:prstGeom>
          <a:solidFill>
            <a:srgbClr val="17151C"/>
          </a:solidFill>
          <a:ln w="12700">
            <a:solidFill>
              <a:srgbClr val="221F28"/>
            </a:solidFill>
            <a:prstDash val="solid"/>
          </a:ln>
        </p:spPr>
      </p:sp>
      <p:sp>
        <p:nvSpPr>
          <p:cNvPr id="30" name="Shape 23"/>
          <p:cNvSpPr/>
          <p:nvPr/>
        </p:nvSpPr>
        <p:spPr>
          <a:xfrm>
            <a:off x="6217920" y="2999232"/>
            <a:ext cx="457200" cy="457200"/>
          </a:xfrm>
          <a:prstGeom prst="ellipse">
            <a:avLst/>
          </a:prstGeom>
          <a:solidFill>
            <a:srgbClr val="8C1711"/>
          </a:solidFill>
          <a:ln/>
        </p:spPr>
      </p:sp>
      <p:pic>
        <p:nvPicPr>
          <p:cNvPr id="31" name="Image 5" descr="preencoded.png">    </p:cNvPr>
          <p:cNvPicPr>
            <a:picLocks noChangeAspect="1"/>
          </p:cNvPicPr>
          <p:nvPr/>
        </p:nvPicPr>
        <p:blipFill>
          <a:blip r:embed="rId6"/>
          <a:stretch>
            <a:fillRect/>
          </a:stretch>
        </p:blipFill>
        <p:spPr>
          <a:xfrm>
            <a:off x="6318504" y="3099816"/>
            <a:ext cx="256032" cy="256032"/>
          </a:xfrm>
          <a:prstGeom prst="rect">
            <a:avLst/>
          </a:prstGeom>
        </p:spPr>
      </p:pic>
      <p:sp>
        <p:nvSpPr>
          <p:cNvPr id="32" name="Text 24"/>
          <p:cNvSpPr txBox="1"/>
          <p:nvPr/>
        </p:nvSpPr>
        <p:spPr>
          <a:xfrm>
            <a:off x="6812280" y="2971800"/>
            <a:ext cx="1737360" cy="502920"/>
          </a:xfrm>
          <a:prstGeom prst="rect">
            <a:avLst/>
          </a:prstGeom>
          <a:noFill/>
          <a:ln/>
        </p:spPr>
        <p:txBody>
          <a:bodyPr wrap="square" lIns="0" tIns="0" rIns="0" bIns="0" rtlCol="0" anchor="ctr"/>
          <a:lstStyle/>
          <a:p>
            <a:pPr indent="0" marL="0">
              <a:buNone/>
            </a:pPr>
            <a:r>
              <a:rPr lang="en-US" sz="1200" b="1" dirty="0">
                <a:solidFill>
                  <a:srgbClr val="EDE7E3"/>
                </a:solidFill>
                <a:latin typeface="Arial" pitchFamily="34" charset="0"/>
                <a:ea typeface="Arial" pitchFamily="34" charset="-122"/>
                <a:cs typeface="Arial" pitchFamily="34" charset="-120"/>
              </a:rPr>
              <a:t>Keep the human on design</a:t>
            </a:r>
            <a:endParaRPr lang="en-US" sz="1200" dirty="0"/>
          </a:p>
        </p:txBody>
      </p:sp>
      <p:sp>
        <p:nvSpPr>
          <p:cNvPr id="33" name="Text 25"/>
          <p:cNvSpPr txBox="1"/>
          <p:nvPr/>
        </p:nvSpPr>
        <p:spPr>
          <a:xfrm>
            <a:off x="6217920" y="3547872"/>
            <a:ext cx="2286000" cy="731520"/>
          </a:xfrm>
          <a:prstGeom prst="rect">
            <a:avLst/>
          </a:prstGeom>
          <a:noFill/>
          <a:ln/>
        </p:spPr>
        <p:txBody>
          <a:bodyPr wrap="square" lIns="0" tIns="0" rIns="0" bIns="0" rtlCol="0" anchor="t"/>
          <a:lstStyle/>
          <a:p>
            <a:pPr indent="0" marL="0">
              <a:buNone/>
            </a:pPr>
            <a:r>
              <a:rPr lang="en-US" sz="1000" dirty="0">
                <a:solidFill>
                  <a:srgbClr val="A39E99"/>
                </a:solidFill>
                <a:latin typeface="Calibri" pitchFamily="34" charset="0"/>
                <a:ea typeface="Calibri" pitchFamily="34" charset="-122"/>
                <a:cs typeface="Calibri" pitchFamily="34" charset="-120"/>
              </a:rPr>
              <a:t>The AI proposed mechanics; the user decided what felt right and said so in one sentence.</a:t>
            </a:r>
            <a:endParaRPr lang="en-US" sz="1000" dirty="0"/>
          </a:p>
        </p:txBody>
      </p:sp>
      <p:sp>
        <p:nvSpPr>
          <p:cNvPr id="34" name="Text 26"/>
          <p:cNvSpPr txBox="1"/>
          <p:nvPr/>
        </p:nvSpPr>
        <p:spPr>
          <a:xfrm>
            <a:off x="457200" y="4823460"/>
            <a:ext cx="8229600" cy="228600"/>
          </a:xfrm>
          <a:prstGeom prst="rect">
            <a:avLst/>
          </a:prstGeom>
          <a:noFill/>
          <a:ln/>
        </p:spPr>
        <p:txBody>
          <a:bodyPr wrap="square" lIns="0" tIns="0" rIns="0" bIns="0" rtlCol="0" anchor="ctr"/>
          <a:lstStyle/>
          <a:p>
            <a:pPr algn="r" indent="0" marL="0">
              <a:buNone/>
            </a:pPr>
            <a:r>
              <a:rPr lang="en-US" sz="900" dirty="0">
                <a:solidFill>
                  <a:srgbClr val="6E6A70"/>
                </a:solidFill>
                <a:latin typeface="Calibri" pitchFamily="34" charset="0"/>
                <a:ea typeface="Calibri" pitchFamily="34" charset="-122"/>
                <a:cs typeface="Calibri" pitchFamily="34" charset="-120"/>
              </a:rPr>
              <a:t>REDLINE  ·  built with Claude Code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A0F"/>
        </a:solidFill>
      </p:bgPr>
    </p:bg>
    <p:spTree>
      <p:nvGrpSpPr>
        <p:cNvPr id="1" name=""/>
        <p:cNvGrpSpPr/>
        <p:nvPr/>
      </p:nvGrpSpPr>
      <p:grpSpPr>
        <a:xfrm>
          <a:off x="0" y="0"/>
          <a:ext cx="0" cy="0"/>
          <a:chOff x="0" y="0"/>
          <a:chExt cx="0" cy="0"/>
        </a:xfrm>
      </p:grpSpPr>
      <p:pic>
        <p:nvPicPr>
          <p:cNvPr id="2" name="Image 0" descr="/tmp/claude-1000/-home-davidj-Claude-Data/52a1801d-3e32-4d0a-8d76-a2b84efc293f/scratchpad/deck/shots/shot_cyber.jpg">    </p:cNvPr>
          <p:cNvPicPr>
            <a:picLocks noChangeAspect="1"/>
          </p:cNvPicPr>
          <p:nvPr/>
        </p:nvPicPr>
        <p:blipFill>
          <a:blip r:embed="rId1">
            <a:alphaModFix amt="40000"/>
          </a:blip>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A0F">
              <a:alpha val="60000"/>
            </a:srgbClr>
          </a:solidFill>
          <a:ln/>
        </p:spPr>
      </p:sp>
      <p:sp>
        <p:nvSpPr>
          <p:cNvPr id="4" name="Text 1"/>
          <p:cNvSpPr txBox="1"/>
          <p:nvPr/>
        </p:nvSpPr>
        <p:spPr>
          <a:xfrm>
            <a:off x="640080" y="640080"/>
            <a:ext cx="7863840" cy="731520"/>
          </a:xfrm>
          <a:prstGeom prst="rect">
            <a:avLst/>
          </a:prstGeom>
          <a:noFill/>
          <a:ln/>
        </p:spPr>
        <p:txBody>
          <a:bodyPr wrap="square" lIns="0" tIns="0" rIns="0" bIns="0" rtlCol="0" anchor="ctr"/>
          <a:lstStyle/>
          <a:p>
            <a:pPr indent="0" marL="0">
              <a:buNone/>
            </a:pPr>
            <a:r>
              <a:rPr lang="en-US" sz="4000" b="1" dirty="0">
                <a:solidFill>
                  <a:srgbClr val="D7261E"/>
                </a:solidFill>
                <a:latin typeface="Arial" pitchFamily="34" charset="0"/>
                <a:ea typeface="Arial" pitchFamily="34" charset="-122"/>
                <a:cs typeface="Arial" pitchFamily="34" charset="-120"/>
              </a:rPr>
              <a:t>Try it</a:t>
            </a:r>
            <a:endParaRPr lang="en-US" sz="4000" dirty="0"/>
          </a:p>
        </p:txBody>
      </p:sp>
      <p:sp>
        <p:nvSpPr>
          <p:cNvPr id="5" name="Shape 2"/>
          <p:cNvSpPr/>
          <p:nvPr/>
        </p:nvSpPr>
        <p:spPr>
          <a:xfrm>
            <a:off x="640080" y="1463040"/>
            <a:ext cx="7863840" cy="502920"/>
          </a:xfrm>
          <a:prstGeom prst="roundRect">
            <a:avLst>
              <a:gd name="adj" fmla="val 14545"/>
            </a:avLst>
          </a:prstGeom>
          <a:solidFill>
            <a:srgbClr val="060608"/>
          </a:solidFill>
          <a:ln w="12700">
            <a:solidFill>
              <a:srgbClr val="221F28"/>
            </a:solidFill>
            <a:prstDash val="solid"/>
          </a:ln>
        </p:spPr>
      </p:sp>
      <p:sp>
        <p:nvSpPr>
          <p:cNvPr id="6" name="Text 3"/>
          <p:cNvSpPr txBox="1"/>
          <p:nvPr/>
        </p:nvSpPr>
        <p:spPr>
          <a:xfrm>
            <a:off x="822960" y="1463040"/>
            <a:ext cx="7498080" cy="502920"/>
          </a:xfrm>
          <a:prstGeom prst="rect">
            <a:avLst/>
          </a:prstGeom>
          <a:noFill/>
          <a:ln/>
        </p:spPr>
        <p:txBody>
          <a:bodyPr wrap="square" lIns="0" tIns="0" rIns="0" bIns="0" rtlCol="0" anchor="ctr"/>
          <a:lstStyle/>
          <a:p>
            <a:pPr indent="0" marL="0">
              <a:buNone/>
            </a:pPr>
            <a:r>
              <a:rPr lang="en-US" sz="1100" dirty="0">
                <a:solidFill>
                  <a:srgbClr val="F2C14E"/>
                </a:solidFill>
                <a:latin typeface="Courier New" pitchFamily="34" charset="0"/>
                <a:ea typeface="Courier New" pitchFamily="34" charset="-122"/>
                <a:cs typeface="Courier New" pitchFamily="34" charset="-120"/>
              </a:rPr>
              <a:t>cd "/home/davidj/Claude Data/redline" &amp;&amp; cmake -S . -B build -G Ninja &amp;&amp; ninja -C build &amp;&amp; ./build/redline</a:t>
            </a:r>
            <a:endParaRPr lang="en-US" sz="1100" dirty="0"/>
          </a:p>
        </p:txBody>
      </p:sp>
      <p:sp>
        <p:nvSpPr>
          <p:cNvPr id="7" name="Text 4"/>
          <p:cNvSpPr txBox="1"/>
          <p:nvPr/>
        </p:nvSpPr>
        <p:spPr>
          <a:xfrm>
            <a:off x="640080" y="2194560"/>
            <a:ext cx="7863840" cy="1188720"/>
          </a:xfrm>
          <a:prstGeom prst="rect">
            <a:avLst/>
          </a:prstGeom>
          <a:noFill/>
          <a:ln/>
        </p:spPr>
        <p:txBody>
          <a:bodyPr wrap="square" lIns="0" tIns="0" rIns="0" bIns="0" rtlCol="0" anchor="t"/>
          <a:lstStyle/>
          <a:p>
            <a:pPr indent="0" marL="0">
              <a:buNone/>
            </a:pPr>
            <a:r>
              <a:rPr lang="en-US" sz="1300" b="1" dirty="0">
                <a:solidFill>
                  <a:srgbClr val="F2C14E"/>
                </a:solidFill>
                <a:latin typeface="Calibri" pitchFamily="34" charset="0"/>
                <a:ea typeface="Calibri" pitchFamily="34" charset="-122"/>
                <a:cs typeface="Calibri" pitchFamily="34" charset="-120"/>
              </a:rPr>
              <a:t>Needs: </a:t>
            </a:r>
            <a:pPr indent="0" marL="0">
              <a:buNone/>
            </a:pPr>
            <a:r>
              <a:rPr lang="en-US" sz="1300" dirty="0">
                <a:solidFill>
                  <a:srgbClr val="EDE7E3"/>
                </a:solidFill>
                <a:latin typeface="Calibri" pitchFamily="34" charset="0"/>
                <a:ea typeface="Calibri" pitchFamily="34" charset="-122"/>
                <a:cs typeface="Calibri" pitchFamily="34" charset="-120"/>
              </a:rPr>
              <a:t>Arch/CachyOS packages cmake, ninja, gcc, vulkan-headers, shaderc, sdl3, glm, and a Doom IWAD (found automatically from Steam). Full docs in README.md and docs/design.md.</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2C14E"/>
                </a:solidFill>
                <a:latin typeface="Calibri" pitchFamily="34" charset="0"/>
                <a:ea typeface="Calibri" pitchFamily="34" charset="-122"/>
                <a:cs typeface="Calibri" pitchFamily="34" charset="-120"/>
              </a:rPr>
              <a:t>Next on the list: </a:t>
            </a:r>
            <a:pPr indent="0" marL="0">
              <a:buNone/>
            </a:pPr>
            <a:r>
              <a:rPr lang="en-US" sz="1300" dirty="0">
                <a:solidFill>
                  <a:srgbClr val="EDE7E3"/>
                </a:solidFill>
                <a:latin typeface="Calibri" pitchFamily="34" charset="0"/>
                <a:ea typeface="Calibri" pitchFamily="34" charset="-122"/>
                <a:cs typeface="Calibri" pitchFamily="34" charset="-120"/>
              </a:rPr>
              <a:t>ray-query shadows on the Vulkan path, and the RTX Remix backend on Windows, both already scoped in docs/remix.md.</a:t>
            </a:r>
            <a:endParaRPr lang="en-US" sz="1300" dirty="0"/>
          </a:p>
        </p:txBody>
      </p:sp>
      <p:sp>
        <p:nvSpPr>
          <p:cNvPr id="8" name="Text 5"/>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200" i="1" dirty="0">
                <a:solidFill>
                  <a:srgbClr val="A39E99"/>
                </a:solidFill>
                <a:latin typeface="Calibri" pitchFamily="34" charset="0"/>
                <a:ea typeface="Calibri" pitchFamily="34" charset="-122"/>
                <a:cs typeface="Calibri" pitchFamily="34" charset="-120"/>
              </a:rPr>
              <a:t>Questions? Ask the AI to walk you through any commit: the history is the documentation.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REDLINE: building a game with AI</dc:title>
  <dc:subject>PptxGenJS Presentation</dc:subject>
  <dc:creator>David Janice</dc:creator>
  <cp:lastModifiedBy>David Janice</cp:lastModifiedBy>
  <cp:revision>1</cp:revision>
  <dcterms:created xsi:type="dcterms:W3CDTF">2026-09-15T03:37:55Z</dcterms:created>
  <dcterms:modified xsi:type="dcterms:W3CDTF">2026-09-15T03:37:55Z</dcterms:modified>
</cp:coreProperties>
</file>